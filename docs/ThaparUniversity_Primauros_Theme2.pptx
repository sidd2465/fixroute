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a:srgbClr val="9A82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7" dt="2026-09-26T11:55:34.754"/>
    <p1510:client id="{75675C0F-A599-FB3A-9C79-EEEB5B34018A}" v="3" dt="2026-09-26T11:54:20.093"/>
    <p1510:client id="{BBF961F7-045F-47D7-963C-169C375FF192}" v="5" dt="2026-09-26T11:41:08.2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84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26-09-2026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26-09-2026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26-09-2026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idd2465/FixRoute"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ssinghal2_be23@thapar.edu"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github.com/Sidd2465/FixRout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a:solidFill>
                  <a:srgbClr val="6D28D9"/>
                </a:solidFill>
                <a:latin typeface="Arial" pitchFamily="34" charset="0"/>
                <a:ea typeface="Arial" pitchFamily="34" charset="-122"/>
                <a:cs typeface="Arial" pitchFamily="34" charset="-120"/>
              </a:rPr>
              <a:t>SAMSUNG PRISM</a:t>
            </a:r>
            <a:endParaRPr lang="en-US" sz="110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a:solidFill>
                  <a:srgbClr val="14142B"/>
                </a:solidFill>
                <a:latin typeface="Arial" pitchFamily="34" charset="0"/>
                <a:ea typeface="Arial" pitchFamily="34" charset="-122"/>
                <a:cs typeface="Arial" pitchFamily="34" charset="-120"/>
              </a:rPr>
              <a:t>Generative AI</a:t>
            </a:r>
            <a:endParaRPr lang="en-US" sz="500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a:solidFill>
                  <a:srgbClr val="6D28D9"/>
                </a:solidFill>
                <a:latin typeface="Arial" pitchFamily="34" charset="0"/>
                <a:ea typeface="Arial" pitchFamily="34" charset="-122"/>
                <a:cs typeface="Arial" pitchFamily="34" charset="-120"/>
              </a:rPr>
              <a:t>Hackathon</a:t>
            </a:r>
            <a:endParaRPr lang="en-US" sz="500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a:solidFill>
                  <a:srgbClr val="14142B"/>
                </a:solidFill>
                <a:latin typeface="Arial" pitchFamily="34" charset="0"/>
                <a:ea typeface="Arial" pitchFamily="34" charset="-122"/>
                <a:cs typeface="Arial" pitchFamily="34" charset="-120"/>
              </a:rPr>
              <a:t>3rd Edition</a:t>
            </a:r>
            <a:r>
              <a:rPr lang="en-US" sz="2000">
                <a:solidFill>
                  <a:srgbClr val="63637E"/>
                </a:solidFill>
                <a:latin typeface="Calibri" pitchFamily="34" charset="0"/>
                <a:ea typeface="Calibri" pitchFamily="34" charset="-122"/>
                <a:cs typeface="Calibri" pitchFamily="34" charset="-120"/>
              </a:rPr>
              <a:t>   2026 – 27</a:t>
            </a:r>
            <a:endParaRPr lang="en-US" sz="250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a:ea typeface="Calibri"/>
                <a:cs typeface="Calibri"/>
              </a:rPr>
              <a:t>Theme ID - 2</a:t>
            </a:r>
          </a:p>
          <a:p>
            <a:pPr marL="177800" indent="-177800">
              <a:spcAft>
                <a:spcPts val="500"/>
              </a:spcAft>
              <a:buSzPct val="100000"/>
              <a:buChar char="•"/>
            </a:pPr>
            <a:r>
              <a:rPr lang="en-US" sz="1600" dirty="0">
                <a:solidFill>
                  <a:srgbClr val="63637E"/>
                </a:solidFill>
                <a:latin typeface="Calibri"/>
                <a:ea typeface="Calibri"/>
                <a:cs typeface="Calibri"/>
              </a:rPr>
              <a:t>Team Name - </a:t>
            </a:r>
            <a:r>
              <a:rPr lang="en-US" sz="1600" dirty="0" err="1">
                <a:solidFill>
                  <a:srgbClr val="63637E"/>
                </a:solidFill>
                <a:latin typeface="Calibri"/>
                <a:ea typeface="Calibri"/>
                <a:cs typeface="Calibri"/>
              </a:rPr>
              <a:t>Primauros</a:t>
            </a:r>
            <a:endParaRPr lang="en-US" sz="1600" dirty="0" err="1">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r>
              <a:rPr lang="en-US" sz="1600" dirty="0">
                <a:solidFill>
                  <a:srgbClr val="63637E"/>
                </a:solidFill>
                <a:latin typeface="Calibri"/>
                <a:ea typeface="Calibri"/>
                <a:cs typeface="Calibri"/>
              </a:rPr>
              <a:t>College Name – Thapar University</a:t>
            </a:r>
          </a:p>
          <a:p>
            <a:pPr marL="177800" indent="-177800">
              <a:spcAft>
                <a:spcPts val="500"/>
              </a:spcAft>
              <a:buSzPct val="100000"/>
              <a:buChar char="•"/>
            </a:pPr>
            <a:r>
              <a:rPr lang="en-US" sz="1600" dirty="0">
                <a:solidFill>
                  <a:srgbClr val="63637E"/>
                </a:solidFill>
                <a:latin typeface="Calibri"/>
                <a:ea typeface="Calibri"/>
                <a:cs typeface="Calibri"/>
              </a:rPr>
              <a:t>Member Name &amp; Email 1- Ridhi Sood &amp; rsood_be23@thapar.edu</a:t>
            </a:r>
          </a:p>
          <a:p>
            <a:pPr marL="177800" indent="-177800">
              <a:spcAft>
                <a:spcPts val="500"/>
              </a:spcAft>
              <a:buSzPct val="100000"/>
              <a:buChar char="•"/>
            </a:pPr>
            <a:r>
              <a:rPr lang="en-US" sz="1600" dirty="0">
                <a:solidFill>
                  <a:srgbClr val="63637E"/>
                </a:solidFill>
                <a:latin typeface="Calibri"/>
                <a:ea typeface="Calibri"/>
                <a:cs typeface="Calibri"/>
              </a:rPr>
              <a:t>Member Name &amp; Email 2- Siddharth </a:t>
            </a:r>
          </a:p>
          <a:p>
            <a:pPr marL="177800" indent="-177800">
              <a:spcAft>
                <a:spcPts val="500"/>
              </a:spcAft>
              <a:buSzPct val="100000"/>
              <a:buFontTx/>
              <a:buChar char="•"/>
            </a:pPr>
            <a:r>
              <a:rPr lang="en-US" sz="1600" dirty="0">
                <a:solidFill>
                  <a:srgbClr val="63637E"/>
                </a:solidFill>
                <a:latin typeface="Calibri"/>
                <a:ea typeface="Calibri"/>
                <a:cs typeface="Calibri"/>
              </a:rPr>
              <a:t>Submission </a:t>
            </a:r>
            <a:r>
              <a:rPr lang="en-US" sz="1600" dirty="0" err="1">
                <a:solidFill>
                  <a:srgbClr val="63637E"/>
                </a:solidFill>
                <a:latin typeface="Calibri"/>
                <a:ea typeface="Calibri"/>
                <a:cs typeface="Calibri"/>
              </a:rPr>
              <a:t>Github</a:t>
            </a:r>
            <a:r>
              <a:rPr lang="en-US" sz="1600" dirty="0">
                <a:solidFill>
                  <a:srgbClr val="63637E"/>
                </a:solidFill>
                <a:latin typeface="Calibri"/>
                <a:ea typeface="Calibri"/>
                <a:cs typeface="Calibri"/>
              </a:rPr>
              <a:t> link -  </a:t>
            </a:r>
            <a:r>
              <a:rPr lang="en-IN" sz="1600" dirty="0">
                <a:solidFill>
                  <a:srgbClr val="1E293B"/>
                </a:solidFill>
                <a:hlinkClick r:id="rId3"/>
              </a:rPr>
              <a:t>https://github.com/Sidd2465/FixRoute</a:t>
            </a:r>
            <a:endParaRPr lang="en-IN" sz="1600" dirty="0">
              <a:solidFill>
                <a:srgbClr val="1E293B"/>
              </a:solidFill>
            </a:endParaRPr>
          </a:p>
          <a:p>
            <a:pPr marL="177800" indent="-177800">
              <a:spcAft>
                <a:spcPts val="500"/>
              </a:spcAft>
              <a:buSzPct val="100000"/>
              <a:buFontTx/>
              <a:buChar char="•"/>
            </a:pPr>
            <a:endParaRPr lang="en-US" sz="1600" dirty="0">
              <a:solidFill>
                <a:srgbClr val="63637E"/>
              </a:solidFill>
              <a:latin typeface="Calibri"/>
              <a:ea typeface="Calibri"/>
              <a:cs typeface="Calibri"/>
            </a:endParaRP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4"/>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606059"/>
            <a:ext cx="8494336" cy="502796"/>
          </a:xfrm>
        </p:spPr>
        <p:txBody>
          <a:bodyPr/>
          <a:lstStyle/>
          <a:p>
            <a:pPr marL="0" indent="0">
              <a:buNone/>
            </a:pPr>
            <a:r>
              <a:rPr lang="en-IN" b="1"/>
              <a:t>Users Know the Symptom, Not the Solution</a:t>
            </a:r>
          </a:p>
          <a:p>
            <a:pPr marL="0" indent="0">
              <a:buNone/>
            </a:pPr>
            <a:endParaRPr lang="en-IN" b="1"/>
          </a:p>
        </p:txBody>
      </p:sp>
      <p:sp>
        <p:nvSpPr>
          <p:cNvPr id="4" name="TextBox 3">
            <a:extLst>
              <a:ext uri="{FF2B5EF4-FFF2-40B4-BE49-F238E27FC236}">
                <a16:creationId xmlns:a16="http://schemas.microsoft.com/office/drawing/2014/main" id="{73876383-CCD0-1BF8-D271-468D9DB29C38}"/>
              </a:ext>
            </a:extLst>
          </p:cNvPr>
          <p:cNvSpPr txBox="1"/>
          <p:nvPr/>
        </p:nvSpPr>
        <p:spPr>
          <a:xfrm>
            <a:off x="904969" y="2447581"/>
            <a:ext cx="3761299" cy="2585323"/>
          </a:xfrm>
          <a:prstGeom prst="rect">
            <a:avLst/>
          </a:prstGeom>
          <a:solidFill>
            <a:srgbClr val="9A82C0"/>
          </a:solidFill>
        </p:spPr>
        <p:txBody>
          <a:bodyPr wrap="square" rtlCol="0">
            <a:spAutoFit/>
          </a:bodyPr>
          <a:lstStyle/>
          <a:p>
            <a:r>
              <a:rPr lang="en-IN" b="1">
                <a:solidFill>
                  <a:schemeClr val="bg1"/>
                </a:solidFill>
                <a:latin typeface="Cambria Math" panose="02040503050406030204" pitchFamily="18" charset="0"/>
                <a:ea typeface="Cambria Math" panose="02040503050406030204" pitchFamily="18" charset="0"/>
              </a:rPr>
              <a:t>WHAT USERS SAY</a:t>
            </a:r>
          </a:p>
          <a:p>
            <a:endParaRPr lang="en-IN" b="1">
              <a:solidFill>
                <a:schemeClr val="bg1"/>
              </a:solidFill>
            </a:endParaRPr>
          </a:p>
          <a:p>
            <a:endParaRPr lang="en-IN" b="1">
              <a:solidFill>
                <a:schemeClr val="bg1"/>
              </a:solidFill>
            </a:endParaRPr>
          </a:p>
          <a:p>
            <a:endParaRPr lang="en-IN" b="1">
              <a:solidFill>
                <a:schemeClr val="bg1"/>
              </a:solidFill>
            </a:endParaRPr>
          </a:p>
          <a:p>
            <a:endParaRPr lang="en-IN" b="1">
              <a:solidFill>
                <a:schemeClr val="bg1"/>
              </a:solidFill>
            </a:endParaRPr>
          </a:p>
          <a:p>
            <a:endParaRPr lang="en-IN" b="1">
              <a:solidFill>
                <a:schemeClr val="bg1"/>
              </a:solidFill>
            </a:endParaRPr>
          </a:p>
          <a:p>
            <a:endParaRPr lang="en-IN" b="1">
              <a:solidFill>
                <a:schemeClr val="bg1"/>
              </a:solidFill>
            </a:endParaRPr>
          </a:p>
          <a:p>
            <a:endParaRPr lang="en-IN" b="1">
              <a:solidFill>
                <a:schemeClr val="bg1"/>
              </a:solidFill>
            </a:endParaRPr>
          </a:p>
          <a:p>
            <a:endParaRPr lang="en-IN" b="1">
              <a:solidFill>
                <a:schemeClr val="bg1"/>
              </a:solidFill>
            </a:endParaRPr>
          </a:p>
        </p:txBody>
      </p:sp>
      <p:sp>
        <p:nvSpPr>
          <p:cNvPr id="5" name="TextBox 4">
            <a:extLst>
              <a:ext uri="{FF2B5EF4-FFF2-40B4-BE49-F238E27FC236}">
                <a16:creationId xmlns:a16="http://schemas.microsoft.com/office/drawing/2014/main" id="{7F4CCC3D-A2AD-239B-49D4-2859B7CA9810}"/>
              </a:ext>
            </a:extLst>
          </p:cNvPr>
          <p:cNvSpPr txBox="1"/>
          <p:nvPr/>
        </p:nvSpPr>
        <p:spPr>
          <a:xfrm>
            <a:off x="1022804" y="2846781"/>
            <a:ext cx="3436074" cy="2031325"/>
          </a:xfrm>
          <a:prstGeom prst="rect">
            <a:avLst/>
          </a:prstGeom>
          <a:solidFill>
            <a:schemeClr val="bg1"/>
          </a:solidFill>
        </p:spPr>
        <p:txBody>
          <a:bodyPr wrap="square" rtlCol="0">
            <a:spAutoFit/>
          </a:bodyPr>
          <a:lstStyle/>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“My screen keeps flickering.”</a:t>
            </a:r>
          </a:p>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“My battery dies very quickly.”</a:t>
            </a:r>
          </a:p>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“My camera is blurry.”</a:t>
            </a:r>
          </a:p>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“My phone is getting really slow.”</a:t>
            </a:r>
          </a:p>
          <a:p>
            <a:pPr marL="285750" lvl="0" indent="-285750">
              <a:buFont typeface="Arial" panose="020B0604020202020204" pitchFamily="34" charset="0"/>
              <a:buChar char="•"/>
            </a:pPr>
            <a:endParaRPr lang="en-IN">
              <a:latin typeface="Cambria Math" panose="02040503050406030204" pitchFamily="18" charset="0"/>
              <a:ea typeface="Cambria Math" panose="02040503050406030204" pitchFamily="18" charset="0"/>
            </a:endParaRPr>
          </a:p>
          <a:p>
            <a:pPr lvl="0"/>
            <a:endParaRPr lang="en-IN">
              <a:latin typeface="Cambria Math" panose="02040503050406030204" pitchFamily="18" charset="0"/>
              <a:ea typeface="Cambria Math" panose="02040503050406030204" pitchFamily="18" charset="0"/>
            </a:endParaRPr>
          </a:p>
        </p:txBody>
      </p:sp>
      <p:sp>
        <p:nvSpPr>
          <p:cNvPr id="6" name="TextBox 5">
            <a:extLst>
              <a:ext uri="{FF2B5EF4-FFF2-40B4-BE49-F238E27FC236}">
                <a16:creationId xmlns:a16="http://schemas.microsoft.com/office/drawing/2014/main" id="{BF357261-4CD4-A94C-09B9-D2B32B16BB76}"/>
              </a:ext>
            </a:extLst>
          </p:cNvPr>
          <p:cNvSpPr txBox="1"/>
          <p:nvPr/>
        </p:nvSpPr>
        <p:spPr>
          <a:xfrm>
            <a:off x="2045614" y="5451071"/>
            <a:ext cx="9926427" cy="954107"/>
          </a:xfrm>
          <a:prstGeom prst="rect">
            <a:avLst/>
          </a:prstGeom>
          <a:solidFill>
            <a:srgbClr val="9A82C0"/>
          </a:solidFill>
        </p:spPr>
        <p:txBody>
          <a:bodyPr wrap="square" rtlCol="0">
            <a:spAutoFit/>
          </a:bodyPr>
          <a:lstStyle/>
          <a:p>
            <a:r>
              <a:rPr lang="en-IN" sz="2800" b="1">
                <a:solidFill>
                  <a:schemeClr val="bg1"/>
                </a:solidFill>
                <a:latin typeface="Cambria Math" panose="02040503050406030204" pitchFamily="18" charset="0"/>
                <a:ea typeface="Cambria Math" panose="02040503050406030204" pitchFamily="18" charset="0"/>
              </a:rPr>
              <a:t>It is not information. It is converting information into an executable fix.</a:t>
            </a:r>
            <a:endParaRPr lang="en-IN" sz="2800">
              <a:solidFill>
                <a:schemeClr val="bg1"/>
              </a:solidFill>
              <a:latin typeface="Cambria Math" panose="02040503050406030204" pitchFamily="18" charset="0"/>
              <a:ea typeface="Cambria Math" panose="02040503050406030204" pitchFamily="18" charset="0"/>
            </a:endParaRPr>
          </a:p>
        </p:txBody>
      </p:sp>
      <p:sp>
        <p:nvSpPr>
          <p:cNvPr id="7" name="TextBox 6">
            <a:extLst>
              <a:ext uri="{FF2B5EF4-FFF2-40B4-BE49-F238E27FC236}">
                <a16:creationId xmlns:a16="http://schemas.microsoft.com/office/drawing/2014/main" id="{71B02D81-4FB1-46E1-9D98-12355EC6B1B7}"/>
              </a:ext>
            </a:extLst>
          </p:cNvPr>
          <p:cNvSpPr txBox="1"/>
          <p:nvPr/>
        </p:nvSpPr>
        <p:spPr>
          <a:xfrm>
            <a:off x="904969" y="5481848"/>
            <a:ext cx="1140645" cy="923330"/>
          </a:xfrm>
          <a:prstGeom prst="rect">
            <a:avLst/>
          </a:prstGeom>
          <a:solidFill>
            <a:srgbClr val="704EA6"/>
          </a:solidFill>
        </p:spPr>
        <p:txBody>
          <a:bodyPr wrap="square" rtlCol="0">
            <a:spAutoFit/>
          </a:bodyPr>
          <a:lstStyle/>
          <a:p>
            <a:r>
              <a:rPr lang="en-US">
                <a:solidFill>
                  <a:schemeClr val="bg1"/>
                </a:solidFill>
                <a:latin typeface="Cambria Math" panose="02040503050406030204" pitchFamily="18" charset="0"/>
                <a:ea typeface="Cambria Math" panose="02040503050406030204" pitchFamily="18" charset="0"/>
              </a:rPr>
              <a:t>The Gap</a:t>
            </a:r>
          </a:p>
          <a:p>
            <a:endParaRPr lang="en-US">
              <a:solidFill>
                <a:schemeClr val="bg1"/>
              </a:solidFill>
            </a:endParaRPr>
          </a:p>
          <a:p>
            <a:endParaRPr lang="en-IN">
              <a:solidFill>
                <a:schemeClr val="bg1"/>
              </a:solidFill>
            </a:endParaRPr>
          </a:p>
        </p:txBody>
      </p:sp>
      <p:pic>
        <p:nvPicPr>
          <p:cNvPr id="9" name="Picture 8">
            <a:extLst>
              <a:ext uri="{FF2B5EF4-FFF2-40B4-BE49-F238E27FC236}">
                <a16:creationId xmlns:a16="http://schemas.microsoft.com/office/drawing/2014/main" id="{F675147F-F125-6AA0-AB4C-4E6B7BE31E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5659" y="2250673"/>
            <a:ext cx="4608141" cy="2998911"/>
          </a:xfrm>
          <a:prstGeom prst="rect">
            <a:avLst/>
          </a:prstGeom>
        </p:spPr>
      </p:pic>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825625"/>
            <a:ext cx="10515600" cy="549930"/>
          </a:xfrm>
        </p:spPr>
        <p:txBody>
          <a:bodyPr/>
          <a:lstStyle/>
          <a:p>
            <a:pPr marL="0" indent="0">
              <a:buNone/>
            </a:pPr>
            <a:r>
              <a:rPr lang="en-IN" b="1"/>
              <a:t>Existing solutions explain. They do not reliably execute.</a:t>
            </a:r>
            <a:endParaRPr lang="en-IN"/>
          </a:p>
          <a:p>
            <a:endParaRPr lang="en-IN"/>
          </a:p>
        </p:txBody>
      </p:sp>
      <p:graphicFrame>
        <p:nvGraphicFramePr>
          <p:cNvPr id="8" name="Table 7">
            <a:extLst>
              <a:ext uri="{FF2B5EF4-FFF2-40B4-BE49-F238E27FC236}">
                <a16:creationId xmlns:a16="http://schemas.microsoft.com/office/drawing/2014/main" id="{C5C3BB52-E822-534A-CA87-D534621FBAC6}"/>
              </a:ext>
            </a:extLst>
          </p:cNvPr>
          <p:cNvGraphicFramePr>
            <a:graphicFrameLocks noGrp="1"/>
          </p:cNvGraphicFramePr>
          <p:nvPr>
            <p:extLst>
              <p:ext uri="{D42A27DB-BD31-4B8C-83A1-F6EECF244321}">
                <p14:modId xmlns:p14="http://schemas.microsoft.com/office/powerpoint/2010/main" val="3432765631"/>
              </p:ext>
            </p:extLst>
          </p:nvPr>
        </p:nvGraphicFramePr>
        <p:xfrm>
          <a:off x="933255" y="2629135"/>
          <a:ext cx="10303497" cy="2866936"/>
        </p:xfrm>
        <a:graphic>
          <a:graphicData uri="http://schemas.openxmlformats.org/drawingml/2006/table">
            <a:tbl>
              <a:tblPr>
                <a:tableStyleId>{5C22544A-7EE6-4342-B048-85BDC9FD1C3A}</a:tableStyleId>
              </a:tblPr>
              <a:tblGrid>
                <a:gridCol w="3434499">
                  <a:extLst>
                    <a:ext uri="{9D8B030D-6E8A-4147-A177-3AD203B41FA5}">
                      <a16:colId xmlns:a16="http://schemas.microsoft.com/office/drawing/2014/main" val="3527950788"/>
                    </a:ext>
                  </a:extLst>
                </a:gridCol>
                <a:gridCol w="3434499">
                  <a:extLst>
                    <a:ext uri="{9D8B030D-6E8A-4147-A177-3AD203B41FA5}">
                      <a16:colId xmlns:a16="http://schemas.microsoft.com/office/drawing/2014/main" val="4097337959"/>
                    </a:ext>
                  </a:extLst>
                </a:gridCol>
                <a:gridCol w="3434499">
                  <a:extLst>
                    <a:ext uri="{9D8B030D-6E8A-4147-A177-3AD203B41FA5}">
                      <a16:colId xmlns:a16="http://schemas.microsoft.com/office/drawing/2014/main" val="2946487066"/>
                    </a:ext>
                  </a:extLst>
                </a:gridCol>
              </a:tblGrid>
              <a:tr h="297301">
                <a:tc>
                  <a:txBody>
                    <a:bodyPr/>
                    <a:lstStyle/>
                    <a:p>
                      <a:pPr algn="l" rtl="0">
                        <a:buNone/>
                      </a:pPr>
                      <a:r>
                        <a:rPr lang="en-IN" sz="1800">
                          <a:solidFill>
                            <a:srgbClr val="704EA6"/>
                          </a:solidFill>
                          <a:effectLst/>
                        </a:rPr>
                        <a:t>APPROACH</a:t>
                      </a:r>
                      <a:endParaRPr lang="en-IN" sz="1800">
                        <a:solidFill>
                          <a:srgbClr val="704EA6"/>
                        </a:solidFill>
                        <a:effectLst/>
                        <a:latin typeface="Arial" panose="020B0604020202020204" pitchFamily="34" charset="0"/>
                      </a:endParaRPr>
                    </a:p>
                  </a:txBody>
                  <a:tcPr marL="79785" marR="79785" marT="39893" marB="39893" anchor="ctr"/>
                </a:tc>
                <a:tc>
                  <a:txBody>
                    <a:bodyPr/>
                    <a:lstStyle/>
                    <a:p>
                      <a:pPr algn="l" rtl="0">
                        <a:buNone/>
                      </a:pPr>
                      <a:r>
                        <a:rPr lang="en-IN" sz="1800">
                          <a:solidFill>
                            <a:srgbClr val="704EA6"/>
                          </a:solidFill>
                          <a:effectLst/>
                        </a:rPr>
                        <a:t>WHAT IT DOES</a:t>
                      </a:r>
                      <a:endParaRPr lang="en-IN" sz="1800">
                        <a:solidFill>
                          <a:srgbClr val="704EA6"/>
                        </a:solidFill>
                        <a:effectLst/>
                        <a:latin typeface="Arial" panose="020B0604020202020204" pitchFamily="34" charset="0"/>
                      </a:endParaRPr>
                    </a:p>
                  </a:txBody>
                  <a:tcPr marL="79785" marR="79785" marT="39893" marB="39893" anchor="ctr"/>
                </a:tc>
                <a:tc>
                  <a:txBody>
                    <a:bodyPr/>
                    <a:lstStyle/>
                    <a:p>
                      <a:pPr algn="l" rtl="0">
                        <a:buNone/>
                      </a:pPr>
                      <a:r>
                        <a:rPr lang="en-IN" sz="1800">
                          <a:solidFill>
                            <a:srgbClr val="704EA6"/>
                          </a:solidFill>
                          <a:effectLst/>
                        </a:rPr>
                        <a:t>GAP</a:t>
                      </a:r>
                      <a:endParaRPr lang="en-IN" sz="1800">
                        <a:solidFill>
                          <a:srgbClr val="704EA6"/>
                        </a:solidFill>
                        <a:effectLst/>
                        <a:latin typeface="Arial" panose="020B0604020202020204" pitchFamily="34" charset="0"/>
                      </a:endParaRPr>
                    </a:p>
                  </a:txBody>
                  <a:tcPr marL="79785" marR="79785" marT="39893" marB="39893" anchor="ctr"/>
                </a:tc>
                <a:extLst>
                  <a:ext uri="{0D108BD9-81ED-4DB2-BD59-A6C34878D82A}">
                    <a16:rowId xmlns:a16="http://schemas.microsoft.com/office/drawing/2014/main" val="915487684"/>
                  </a:ext>
                </a:extLst>
              </a:tr>
              <a:tr h="527615">
                <a:tc>
                  <a:txBody>
                    <a:bodyPr/>
                    <a:lstStyle/>
                    <a:p>
                      <a:pPr algn="l" rtl="0">
                        <a:buNone/>
                      </a:pPr>
                      <a:r>
                        <a:rPr lang="en-IN" sz="1800">
                          <a:effectLst/>
                        </a:rPr>
                        <a:t>FAQ / search</a:t>
                      </a:r>
                      <a:endParaRPr lang="en-IN" sz="1800">
                        <a:solidFill>
                          <a:srgbClr val="000000"/>
                        </a:solidFill>
                        <a:effectLst/>
                        <a:latin typeface="Arial" panose="020B0604020202020204" pitchFamily="34" charset="0"/>
                      </a:endParaRPr>
                    </a:p>
                  </a:txBody>
                  <a:tcPr marL="79785" marR="79785" marT="39893" marB="39893" anchor="ctr"/>
                </a:tc>
                <a:tc>
                  <a:txBody>
                    <a:bodyPr/>
                    <a:lstStyle/>
                    <a:p>
                      <a:pPr algn="l" rtl="0">
                        <a:buNone/>
                      </a:pPr>
                      <a:r>
                        <a:rPr lang="en-IN" sz="1800">
                          <a:effectLst/>
                        </a:rPr>
                        <a:t>Finds support articles</a:t>
                      </a:r>
                      <a:endParaRPr lang="en-IN" sz="1800">
                        <a:solidFill>
                          <a:srgbClr val="000000"/>
                        </a:solidFill>
                        <a:effectLst/>
                        <a:latin typeface="Arial" panose="020B0604020202020204" pitchFamily="34" charset="0"/>
                      </a:endParaRPr>
                    </a:p>
                  </a:txBody>
                  <a:tcPr marL="79785" marR="79785" marT="39893" marB="39893" anchor="ctr"/>
                </a:tc>
                <a:tc>
                  <a:txBody>
                    <a:bodyPr/>
                    <a:lstStyle/>
                    <a:p>
                      <a:pPr algn="l" rtl="0">
                        <a:buNone/>
                      </a:pPr>
                      <a:r>
                        <a:rPr lang="en-IN" sz="1800">
                          <a:effectLst/>
                        </a:rPr>
                        <a:t>User still interprets the solution</a:t>
                      </a:r>
                      <a:endParaRPr lang="en-IN" sz="1800">
                        <a:solidFill>
                          <a:srgbClr val="000000"/>
                        </a:solidFill>
                        <a:effectLst/>
                        <a:latin typeface="Arial" panose="020B0604020202020204" pitchFamily="34" charset="0"/>
                      </a:endParaRPr>
                    </a:p>
                  </a:txBody>
                  <a:tcPr marL="79785" marR="79785" marT="39893" marB="39893" anchor="ctr"/>
                </a:tc>
                <a:extLst>
                  <a:ext uri="{0D108BD9-81ED-4DB2-BD59-A6C34878D82A}">
                    <a16:rowId xmlns:a16="http://schemas.microsoft.com/office/drawing/2014/main" val="3802290572"/>
                  </a:ext>
                </a:extLst>
              </a:tr>
              <a:tr h="728800">
                <a:tc>
                  <a:txBody>
                    <a:bodyPr/>
                    <a:lstStyle/>
                    <a:p>
                      <a:pPr algn="l" rtl="0">
                        <a:buNone/>
                      </a:pPr>
                      <a:r>
                        <a:rPr lang="en-IN" sz="1800">
                          <a:effectLst/>
                        </a:rPr>
                        <a:t>Generic LLM</a:t>
                      </a:r>
                      <a:endParaRPr lang="en-IN" sz="1800">
                        <a:solidFill>
                          <a:srgbClr val="000000"/>
                        </a:solidFill>
                        <a:effectLst/>
                        <a:latin typeface="Arial" panose="020B0604020202020204" pitchFamily="34" charset="0"/>
                      </a:endParaRPr>
                    </a:p>
                  </a:txBody>
                  <a:tcPr marL="79785" marR="79785" marT="39893" marB="39893" anchor="ctr"/>
                </a:tc>
                <a:tc>
                  <a:txBody>
                    <a:bodyPr/>
                    <a:lstStyle/>
                    <a:p>
                      <a:pPr algn="l" rtl="0">
                        <a:buNone/>
                      </a:pPr>
                      <a:r>
                        <a:rPr lang="en-IN" sz="1800">
                          <a:effectLst/>
                        </a:rPr>
                        <a:t>Explains possible fixes</a:t>
                      </a:r>
                      <a:endParaRPr lang="en-IN" sz="1800">
                        <a:solidFill>
                          <a:srgbClr val="000000"/>
                        </a:solidFill>
                        <a:effectLst/>
                        <a:latin typeface="Arial" panose="020B0604020202020204" pitchFamily="34" charset="0"/>
                      </a:endParaRPr>
                    </a:p>
                  </a:txBody>
                  <a:tcPr marL="79785" marR="79785" marT="39893" marB="39893" anchor="ctr"/>
                </a:tc>
                <a:tc>
                  <a:txBody>
                    <a:bodyPr/>
                    <a:lstStyle/>
                    <a:p>
                      <a:pPr algn="l" rtl="0">
                        <a:buNone/>
                      </a:pPr>
                      <a:r>
                        <a:rPr lang="en-IN" sz="1800">
                          <a:effectLst/>
                        </a:rPr>
                        <a:t>Can hallucinate; lacks executable actions</a:t>
                      </a:r>
                      <a:endParaRPr lang="en-IN" sz="1800">
                        <a:solidFill>
                          <a:srgbClr val="000000"/>
                        </a:solidFill>
                        <a:effectLst/>
                        <a:latin typeface="Arial" panose="020B0604020202020204" pitchFamily="34" charset="0"/>
                      </a:endParaRPr>
                    </a:p>
                  </a:txBody>
                  <a:tcPr marL="79785" marR="79785" marT="39893" marB="39893" anchor="ctr"/>
                </a:tc>
                <a:extLst>
                  <a:ext uri="{0D108BD9-81ED-4DB2-BD59-A6C34878D82A}">
                    <a16:rowId xmlns:a16="http://schemas.microsoft.com/office/drawing/2014/main" val="1352517081"/>
                  </a:ext>
                </a:extLst>
              </a:tr>
              <a:tr h="527615">
                <a:tc>
                  <a:txBody>
                    <a:bodyPr/>
                    <a:lstStyle/>
                    <a:p>
                      <a:pPr algn="l" rtl="0">
                        <a:buNone/>
                      </a:pPr>
                      <a:r>
                        <a:rPr lang="en-IN" sz="1800">
                          <a:effectLst/>
                        </a:rPr>
                        <a:t>Traditional support</a:t>
                      </a:r>
                      <a:endParaRPr lang="en-IN" sz="1800">
                        <a:solidFill>
                          <a:srgbClr val="000000"/>
                        </a:solidFill>
                        <a:effectLst/>
                        <a:latin typeface="Arial" panose="020B0604020202020204" pitchFamily="34" charset="0"/>
                      </a:endParaRPr>
                    </a:p>
                  </a:txBody>
                  <a:tcPr marL="79785" marR="79785" marT="39893" marB="39893" anchor="ctr"/>
                </a:tc>
                <a:tc>
                  <a:txBody>
                    <a:bodyPr/>
                    <a:lstStyle/>
                    <a:p>
                      <a:pPr algn="l" rtl="0">
                        <a:buNone/>
                      </a:pPr>
                      <a:r>
                        <a:rPr lang="en-IN" sz="1800">
                          <a:effectLst/>
                        </a:rPr>
                        <a:t>Human-guided troubleshooting</a:t>
                      </a:r>
                      <a:endParaRPr lang="en-IN" sz="1800">
                        <a:solidFill>
                          <a:srgbClr val="000000"/>
                        </a:solidFill>
                        <a:effectLst/>
                        <a:latin typeface="Arial" panose="020B0604020202020204" pitchFamily="34" charset="0"/>
                      </a:endParaRPr>
                    </a:p>
                  </a:txBody>
                  <a:tcPr marL="79785" marR="79785" marT="39893" marB="39893" anchor="ctr"/>
                </a:tc>
                <a:tc>
                  <a:txBody>
                    <a:bodyPr/>
                    <a:lstStyle/>
                    <a:p>
                      <a:pPr algn="l" rtl="0">
                        <a:buNone/>
                      </a:pPr>
                      <a:r>
                        <a:rPr lang="en-IN" sz="1800">
                          <a:effectLst/>
                        </a:rPr>
                        <a:t>Slow and expensive</a:t>
                      </a:r>
                      <a:endParaRPr lang="en-IN" sz="1800">
                        <a:solidFill>
                          <a:srgbClr val="000000"/>
                        </a:solidFill>
                        <a:effectLst/>
                        <a:latin typeface="Arial" panose="020B0604020202020204" pitchFamily="34" charset="0"/>
                      </a:endParaRPr>
                    </a:p>
                  </a:txBody>
                  <a:tcPr marL="79785" marR="79785" marT="39893" marB="39893" anchor="ctr"/>
                </a:tc>
                <a:extLst>
                  <a:ext uri="{0D108BD9-81ED-4DB2-BD59-A6C34878D82A}">
                    <a16:rowId xmlns:a16="http://schemas.microsoft.com/office/drawing/2014/main" val="2200206033"/>
                  </a:ext>
                </a:extLst>
              </a:tr>
              <a:tr h="728800">
                <a:tc>
                  <a:txBody>
                    <a:bodyPr/>
                    <a:lstStyle/>
                    <a:p>
                      <a:pPr algn="l" rtl="0">
                        <a:buNone/>
                      </a:pPr>
                      <a:r>
                        <a:rPr lang="en-IN" sz="1800">
                          <a:effectLst/>
                        </a:rPr>
                        <a:t>Our engine</a:t>
                      </a:r>
                      <a:endParaRPr lang="en-IN" sz="1800">
                        <a:solidFill>
                          <a:srgbClr val="000000"/>
                        </a:solidFill>
                        <a:effectLst/>
                        <a:latin typeface="Arial" panose="020B0604020202020204" pitchFamily="34" charset="0"/>
                      </a:endParaRPr>
                    </a:p>
                  </a:txBody>
                  <a:tcPr marL="79785" marR="79785" marT="39893" marB="39893" anchor="ctr"/>
                </a:tc>
                <a:tc>
                  <a:txBody>
                    <a:bodyPr/>
                    <a:lstStyle/>
                    <a:p>
                      <a:pPr algn="l" rtl="0">
                        <a:buNone/>
                      </a:pPr>
                      <a:r>
                        <a:rPr lang="en-IN" sz="1800">
                          <a:effectLst/>
                        </a:rPr>
                        <a:t>Understands → retrieves → validates → maps</a:t>
                      </a:r>
                      <a:endParaRPr lang="en-IN" sz="1800">
                        <a:solidFill>
                          <a:srgbClr val="000000"/>
                        </a:solidFill>
                        <a:effectLst/>
                        <a:latin typeface="Arial" panose="020B0604020202020204" pitchFamily="34" charset="0"/>
                      </a:endParaRPr>
                    </a:p>
                  </a:txBody>
                  <a:tcPr marL="79785" marR="79785" marT="39893" marB="39893" anchor="ctr"/>
                </a:tc>
                <a:tc>
                  <a:txBody>
                    <a:bodyPr/>
                    <a:lstStyle/>
                    <a:p>
                      <a:pPr algn="l" rtl="0">
                        <a:buNone/>
                      </a:pPr>
                      <a:r>
                        <a:rPr lang="en-IN" sz="1800">
                          <a:effectLst/>
                        </a:rPr>
                        <a:t>One structured actionable response</a:t>
                      </a:r>
                      <a:endParaRPr lang="en-IN" sz="1800">
                        <a:solidFill>
                          <a:srgbClr val="000000"/>
                        </a:solidFill>
                        <a:effectLst/>
                        <a:latin typeface="Arial" panose="020B0604020202020204" pitchFamily="34" charset="0"/>
                      </a:endParaRPr>
                    </a:p>
                  </a:txBody>
                  <a:tcPr marL="79785" marR="79785" marT="39893" marB="39893" anchor="ctr"/>
                </a:tc>
                <a:extLst>
                  <a:ext uri="{0D108BD9-81ED-4DB2-BD59-A6C34878D82A}">
                    <a16:rowId xmlns:a16="http://schemas.microsoft.com/office/drawing/2014/main" val="1825270765"/>
                  </a:ext>
                </a:extLst>
              </a:tr>
            </a:tbl>
          </a:graphicData>
        </a:graphic>
      </p:graphicFrame>
      <p:sp>
        <p:nvSpPr>
          <p:cNvPr id="9" name="TextBox 8">
            <a:extLst>
              <a:ext uri="{FF2B5EF4-FFF2-40B4-BE49-F238E27FC236}">
                <a16:creationId xmlns:a16="http://schemas.microsoft.com/office/drawing/2014/main" id="{423FCEFB-DE9F-873C-E1BE-3D1A6C79669C}"/>
              </a:ext>
            </a:extLst>
          </p:cNvPr>
          <p:cNvSpPr txBox="1"/>
          <p:nvPr/>
        </p:nvSpPr>
        <p:spPr>
          <a:xfrm>
            <a:off x="2007909" y="5986021"/>
            <a:ext cx="7655793" cy="707886"/>
          </a:xfrm>
          <a:prstGeom prst="rect">
            <a:avLst/>
          </a:prstGeom>
          <a:noFill/>
        </p:spPr>
        <p:txBody>
          <a:bodyPr wrap="square" rtlCol="0">
            <a:spAutoFit/>
          </a:bodyPr>
          <a:lstStyle/>
          <a:p>
            <a:r>
              <a:rPr lang="en-IN" sz="2000" b="1"/>
              <a:t>Information ❌                                                       Actionable resolution ✅</a:t>
            </a:r>
          </a:p>
          <a:p>
            <a:endParaRPr lang="en-IN" sz="2000" b="1"/>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825625"/>
            <a:ext cx="10515600" cy="597064"/>
          </a:xfrm>
        </p:spPr>
        <p:txBody>
          <a:bodyPr/>
          <a:lstStyle/>
          <a:p>
            <a:pPr marL="0" indent="0">
              <a:buNone/>
            </a:pPr>
            <a:r>
              <a:rPr lang="en-IN" b="1"/>
              <a:t>Complaint → One-Tap Fix</a:t>
            </a:r>
          </a:p>
        </p:txBody>
      </p:sp>
      <p:sp>
        <p:nvSpPr>
          <p:cNvPr id="6" name="TextBox 5">
            <a:extLst>
              <a:ext uri="{FF2B5EF4-FFF2-40B4-BE49-F238E27FC236}">
                <a16:creationId xmlns:a16="http://schemas.microsoft.com/office/drawing/2014/main" id="{395D301D-90FA-065D-08C7-82047E819489}"/>
              </a:ext>
            </a:extLst>
          </p:cNvPr>
          <p:cNvSpPr txBox="1"/>
          <p:nvPr/>
        </p:nvSpPr>
        <p:spPr>
          <a:xfrm>
            <a:off x="5813196" y="2374125"/>
            <a:ext cx="5468887" cy="3970318"/>
          </a:xfrm>
          <a:prstGeom prst="rect">
            <a:avLst/>
          </a:prstGeom>
          <a:solidFill>
            <a:srgbClr val="9A82C0"/>
          </a:solidFill>
        </p:spPr>
        <p:txBody>
          <a:bodyPr wrap="square" rtlCol="0">
            <a:spAutoFit/>
          </a:bodyPr>
          <a:lstStyle/>
          <a:p>
            <a:r>
              <a:rPr lang="en-IN" sz="2800" b="1" dirty="0">
                <a:solidFill>
                  <a:schemeClr val="bg2">
                    <a:lumMod val="10000"/>
                  </a:schemeClr>
                </a:solidFill>
                <a:latin typeface="Cambria Math" panose="02040503050406030204" pitchFamily="18" charset="0"/>
                <a:ea typeface="Cambria Math" panose="02040503050406030204" pitchFamily="18" charset="0"/>
              </a:rPr>
              <a:t>    </a:t>
            </a:r>
            <a:r>
              <a:rPr lang="en-IN" sz="2800" b="1" dirty="0">
                <a:solidFill>
                  <a:schemeClr val="bg1"/>
                </a:solidFill>
                <a:latin typeface="Cambria Math" panose="02040503050406030204" pitchFamily="18" charset="0"/>
                <a:ea typeface="Cambria Math" panose="02040503050406030204" pitchFamily="18" charset="0"/>
              </a:rPr>
              <a:t>Core capabilities</a:t>
            </a:r>
          </a:p>
          <a:p>
            <a:endParaRPr lang="en-IN" sz="2800" b="1" dirty="0">
              <a:solidFill>
                <a:schemeClr val="bg2">
                  <a:lumMod val="10000"/>
                </a:schemeClr>
              </a:solidFill>
            </a:endParaRPr>
          </a:p>
          <a:p>
            <a:endParaRPr lang="en-IN" sz="2800" b="1" dirty="0">
              <a:solidFill>
                <a:schemeClr val="bg2">
                  <a:lumMod val="10000"/>
                </a:schemeClr>
              </a:solidFill>
            </a:endParaRPr>
          </a:p>
          <a:p>
            <a:endParaRPr lang="en-IN" sz="2800" b="1" dirty="0">
              <a:solidFill>
                <a:schemeClr val="bg2">
                  <a:lumMod val="10000"/>
                </a:schemeClr>
              </a:solidFill>
            </a:endParaRPr>
          </a:p>
          <a:p>
            <a:endParaRPr lang="en-IN" sz="2800" b="1" dirty="0">
              <a:solidFill>
                <a:schemeClr val="bg2">
                  <a:lumMod val="10000"/>
                </a:schemeClr>
              </a:solidFill>
            </a:endParaRPr>
          </a:p>
          <a:p>
            <a:endParaRPr lang="en-IN" sz="2800" b="1" dirty="0">
              <a:solidFill>
                <a:schemeClr val="bg2">
                  <a:lumMod val="10000"/>
                </a:schemeClr>
              </a:solidFill>
            </a:endParaRPr>
          </a:p>
          <a:p>
            <a:endParaRPr lang="en-IN" sz="2800" b="1" dirty="0">
              <a:solidFill>
                <a:schemeClr val="bg2">
                  <a:lumMod val="10000"/>
                </a:schemeClr>
              </a:solidFill>
            </a:endParaRPr>
          </a:p>
          <a:p>
            <a:endParaRPr lang="en-IN" sz="2800" b="1" dirty="0">
              <a:solidFill>
                <a:schemeClr val="bg2">
                  <a:lumMod val="10000"/>
                </a:schemeClr>
              </a:solidFill>
            </a:endParaRPr>
          </a:p>
          <a:p>
            <a:endParaRPr lang="en-IN" sz="2800" b="1" dirty="0">
              <a:solidFill>
                <a:schemeClr val="bg2">
                  <a:lumMod val="10000"/>
                </a:schemeClr>
              </a:solidFill>
            </a:endParaRPr>
          </a:p>
        </p:txBody>
      </p:sp>
      <p:sp>
        <p:nvSpPr>
          <p:cNvPr id="9" name="TextBox 8">
            <a:extLst>
              <a:ext uri="{FF2B5EF4-FFF2-40B4-BE49-F238E27FC236}">
                <a16:creationId xmlns:a16="http://schemas.microsoft.com/office/drawing/2014/main" id="{6A0487EB-9DBA-9EFE-57CE-AE2379A14FC2}"/>
              </a:ext>
            </a:extLst>
          </p:cNvPr>
          <p:cNvSpPr txBox="1"/>
          <p:nvPr/>
        </p:nvSpPr>
        <p:spPr>
          <a:xfrm>
            <a:off x="6400800" y="3110845"/>
            <a:ext cx="4440025" cy="2585323"/>
          </a:xfrm>
          <a:prstGeom prst="rect">
            <a:avLst/>
          </a:prstGeom>
          <a:solidFill>
            <a:schemeClr val="bg1"/>
          </a:solidFill>
        </p:spPr>
        <p:txBody>
          <a:bodyPr wrap="square" rtlCol="0">
            <a:spAutoFit/>
          </a:bodyPr>
          <a:lstStyle/>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Natural-language complaint understanding </a:t>
            </a:r>
          </a:p>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Technical query enrichment </a:t>
            </a:r>
          </a:p>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Structured troubleshooting </a:t>
            </a:r>
          </a:p>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Knowledge-grounded responses </a:t>
            </a:r>
          </a:p>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Exact Settings </a:t>
            </a:r>
            <a:r>
              <a:rPr lang="en-IN" err="1">
                <a:latin typeface="Cambria Math" panose="02040503050406030204" pitchFamily="18" charset="0"/>
                <a:ea typeface="Cambria Math" panose="02040503050406030204" pitchFamily="18" charset="0"/>
              </a:rPr>
              <a:t>deeplinks</a:t>
            </a:r>
            <a:r>
              <a:rPr lang="en-IN">
                <a:latin typeface="Cambria Math" panose="02040503050406030204" pitchFamily="18" charset="0"/>
                <a:ea typeface="Cambria Math" panose="02040503050406030204" pitchFamily="18" charset="0"/>
              </a:rPr>
              <a:t> </a:t>
            </a:r>
          </a:p>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Fast-path caching </a:t>
            </a:r>
          </a:p>
          <a:p>
            <a:pPr marL="285750" lvl="0" indent="-285750">
              <a:buFont typeface="Arial" panose="020B0604020202020204" pitchFamily="34" charset="0"/>
              <a:buChar char="•"/>
            </a:pPr>
            <a:r>
              <a:rPr lang="en-IN">
                <a:latin typeface="Cambria Math" panose="02040503050406030204" pitchFamily="18" charset="0"/>
                <a:ea typeface="Cambria Math" panose="02040503050406030204" pitchFamily="18" charset="0"/>
              </a:rPr>
              <a:t>REST API</a:t>
            </a:r>
          </a:p>
          <a:p>
            <a:pPr marL="285750" indent="-285750">
              <a:buFont typeface="Arial" panose="020B0604020202020204" pitchFamily="34" charset="0"/>
              <a:buChar char="•"/>
            </a:pPr>
            <a:endParaRPr lang="en-IN"/>
          </a:p>
        </p:txBody>
      </p:sp>
      <p:sp>
        <p:nvSpPr>
          <p:cNvPr id="13" name="TextBox 12">
            <a:extLst>
              <a:ext uri="{FF2B5EF4-FFF2-40B4-BE49-F238E27FC236}">
                <a16:creationId xmlns:a16="http://schemas.microsoft.com/office/drawing/2014/main" id="{0DB1B4FA-65D4-4B39-A27A-13A6E7CCF381}"/>
              </a:ext>
            </a:extLst>
          </p:cNvPr>
          <p:cNvSpPr txBox="1"/>
          <p:nvPr/>
        </p:nvSpPr>
        <p:spPr>
          <a:xfrm>
            <a:off x="838200" y="2656238"/>
            <a:ext cx="6023727" cy="369332"/>
          </a:xfrm>
          <a:prstGeom prst="rect">
            <a:avLst/>
          </a:prstGeom>
          <a:noFill/>
        </p:spPr>
        <p:txBody>
          <a:bodyPr wrap="square">
            <a:spAutoFit/>
          </a:bodyPr>
          <a:lstStyle/>
          <a:p>
            <a:pPr algn="l" rtl="0">
              <a:buNone/>
            </a:pPr>
            <a:r>
              <a:rPr lang="en-IN" sz="1800" b="0" i="0">
                <a:solidFill>
                  <a:schemeClr val="tx1"/>
                </a:solidFill>
                <a:effectLst/>
              </a:rPr>
              <a:t>“My battery is draining very fast”</a:t>
            </a:r>
            <a:endParaRPr lang="en-IN" sz="1800">
              <a:effectLst/>
            </a:endParaRPr>
          </a:p>
        </p:txBody>
      </p:sp>
      <p:sp>
        <p:nvSpPr>
          <p:cNvPr id="14" name="TextBox 13">
            <a:extLst>
              <a:ext uri="{FF2B5EF4-FFF2-40B4-BE49-F238E27FC236}">
                <a16:creationId xmlns:a16="http://schemas.microsoft.com/office/drawing/2014/main" id="{5459A743-D3C9-2A9A-1A70-E4C85A6780E6}"/>
              </a:ext>
            </a:extLst>
          </p:cNvPr>
          <p:cNvSpPr txBox="1"/>
          <p:nvPr/>
        </p:nvSpPr>
        <p:spPr>
          <a:xfrm>
            <a:off x="909917" y="3177809"/>
            <a:ext cx="1536569" cy="1477328"/>
          </a:xfrm>
          <a:prstGeom prst="rect">
            <a:avLst/>
          </a:prstGeom>
          <a:noFill/>
        </p:spPr>
        <p:txBody>
          <a:bodyPr wrap="square" rtlCol="0">
            <a:spAutoFit/>
          </a:bodyPr>
          <a:lstStyle/>
          <a:p>
            <a:r>
              <a:rPr lang="en-IN" b="1"/>
              <a:t>01</a:t>
            </a:r>
            <a:endParaRPr lang="en-IN"/>
          </a:p>
          <a:p>
            <a:r>
              <a:rPr lang="en-IN" b="1"/>
              <a:t>Enrich</a:t>
            </a:r>
            <a:endParaRPr lang="en-IN"/>
          </a:p>
          <a:p>
            <a:r>
              <a:rPr lang="en-IN"/>
              <a:t>Clarify the symptom.</a:t>
            </a:r>
          </a:p>
          <a:p>
            <a:endParaRPr lang="en-IN"/>
          </a:p>
        </p:txBody>
      </p:sp>
      <p:sp>
        <p:nvSpPr>
          <p:cNvPr id="15" name="TextBox 14">
            <a:extLst>
              <a:ext uri="{FF2B5EF4-FFF2-40B4-BE49-F238E27FC236}">
                <a16:creationId xmlns:a16="http://schemas.microsoft.com/office/drawing/2014/main" id="{B44E7847-D584-8FE9-6970-2DFA104D3673}"/>
              </a:ext>
            </a:extLst>
          </p:cNvPr>
          <p:cNvSpPr txBox="1"/>
          <p:nvPr/>
        </p:nvSpPr>
        <p:spPr>
          <a:xfrm>
            <a:off x="2316753" y="3158955"/>
            <a:ext cx="1659117" cy="1200329"/>
          </a:xfrm>
          <a:prstGeom prst="rect">
            <a:avLst/>
          </a:prstGeom>
          <a:noFill/>
        </p:spPr>
        <p:txBody>
          <a:bodyPr wrap="square" rtlCol="0">
            <a:spAutoFit/>
          </a:bodyPr>
          <a:lstStyle/>
          <a:p>
            <a:r>
              <a:rPr lang="en-IN" b="1"/>
              <a:t>02</a:t>
            </a:r>
            <a:endParaRPr lang="en-IN"/>
          </a:p>
          <a:p>
            <a:r>
              <a:rPr lang="en-IN" b="1"/>
              <a:t>Identify</a:t>
            </a:r>
            <a:endParaRPr lang="en-IN"/>
          </a:p>
          <a:p>
            <a:r>
              <a:rPr lang="en-IN"/>
              <a:t>Structure the issue.</a:t>
            </a:r>
          </a:p>
        </p:txBody>
      </p:sp>
      <p:sp>
        <p:nvSpPr>
          <p:cNvPr id="16" name="TextBox 15">
            <a:extLst>
              <a:ext uri="{FF2B5EF4-FFF2-40B4-BE49-F238E27FC236}">
                <a16:creationId xmlns:a16="http://schemas.microsoft.com/office/drawing/2014/main" id="{15F89FA6-E91E-37F0-DB8B-9E4ABAC65EA7}"/>
              </a:ext>
            </a:extLst>
          </p:cNvPr>
          <p:cNvSpPr txBox="1"/>
          <p:nvPr/>
        </p:nvSpPr>
        <p:spPr>
          <a:xfrm>
            <a:off x="3850063" y="3177809"/>
            <a:ext cx="1746200" cy="1200329"/>
          </a:xfrm>
          <a:prstGeom prst="rect">
            <a:avLst/>
          </a:prstGeom>
          <a:noFill/>
        </p:spPr>
        <p:txBody>
          <a:bodyPr wrap="square" rtlCol="0">
            <a:spAutoFit/>
          </a:bodyPr>
          <a:lstStyle/>
          <a:p>
            <a:r>
              <a:rPr lang="en-IN" b="1"/>
              <a:t>03</a:t>
            </a:r>
            <a:endParaRPr lang="en-IN"/>
          </a:p>
          <a:p>
            <a:r>
              <a:rPr lang="en-IN" b="1"/>
              <a:t>Retrieve</a:t>
            </a:r>
            <a:endParaRPr lang="en-IN"/>
          </a:p>
          <a:p>
            <a:r>
              <a:rPr lang="en-IN"/>
              <a:t>Find grounded knowledge.</a:t>
            </a:r>
          </a:p>
        </p:txBody>
      </p:sp>
      <p:sp>
        <p:nvSpPr>
          <p:cNvPr id="17" name="TextBox 16">
            <a:extLst>
              <a:ext uri="{FF2B5EF4-FFF2-40B4-BE49-F238E27FC236}">
                <a16:creationId xmlns:a16="http://schemas.microsoft.com/office/drawing/2014/main" id="{1D0A2077-CDDB-C647-808A-DAB266302838}"/>
              </a:ext>
            </a:extLst>
          </p:cNvPr>
          <p:cNvSpPr txBox="1"/>
          <p:nvPr/>
        </p:nvSpPr>
        <p:spPr>
          <a:xfrm>
            <a:off x="909917" y="4722829"/>
            <a:ext cx="1659117" cy="1200329"/>
          </a:xfrm>
          <a:prstGeom prst="rect">
            <a:avLst/>
          </a:prstGeom>
          <a:noFill/>
        </p:spPr>
        <p:txBody>
          <a:bodyPr wrap="square" rtlCol="0">
            <a:spAutoFit/>
          </a:bodyPr>
          <a:lstStyle/>
          <a:p>
            <a:r>
              <a:rPr lang="en-IN" b="1"/>
              <a:t>04</a:t>
            </a:r>
            <a:endParaRPr lang="en-IN"/>
          </a:p>
          <a:p>
            <a:r>
              <a:rPr lang="en-IN" b="1"/>
              <a:t>Validate</a:t>
            </a:r>
            <a:endParaRPr lang="en-IN"/>
          </a:p>
          <a:p>
            <a:r>
              <a:rPr lang="en-IN"/>
              <a:t>Check every step.</a:t>
            </a:r>
          </a:p>
        </p:txBody>
      </p:sp>
      <p:sp>
        <p:nvSpPr>
          <p:cNvPr id="18" name="TextBox 17">
            <a:extLst>
              <a:ext uri="{FF2B5EF4-FFF2-40B4-BE49-F238E27FC236}">
                <a16:creationId xmlns:a16="http://schemas.microsoft.com/office/drawing/2014/main" id="{FCCEB174-8B93-F0B5-A597-3205EC708989}"/>
              </a:ext>
            </a:extLst>
          </p:cNvPr>
          <p:cNvSpPr txBox="1"/>
          <p:nvPr/>
        </p:nvSpPr>
        <p:spPr>
          <a:xfrm>
            <a:off x="2446486" y="4807670"/>
            <a:ext cx="1659117" cy="1200329"/>
          </a:xfrm>
          <a:prstGeom prst="rect">
            <a:avLst/>
          </a:prstGeom>
          <a:noFill/>
        </p:spPr>
        <p:txBody>
          <a:bodyPr wrap="square" rtlCol="0">
            <a:spAutoFit/>
          </a:bodyPr>
          <a:lstStyle/>
          <a:p>
            <a:r>
              <a:rPr lang="en-IN" b="1"/>
              <a:t>05</a:t>
            </a:r>
            <a:endParaRPr lang="en-IN"/>
          </a:p>
          <a:p>
            <a:r>
              <a:rPr lang="en-IN" b="1"/>
              <a:t>Open</a:t>
            </a:r>
            <a:endParaRPr lang="en-IN"/>
          </a:p>
          <a:p>
            <a:r>
              <a:rPr lang="en-IN"/>
              <a:t>Map the destination.</a:t>
            </a:r>
          </a:p>
        </p:txBody>
      </p:sp>
      <p:sp>
        <p:nvSpPr>
          <p:cNvPr id="19" name="TextBox 18">
            <a:extLst>
              <a:ext uri="{FF2B5EF4-FFF2-40B4-BE49-F238E27FC236}">
                <a16:creationId xmlns:a16="http://schemas.microsoft.com/office/drawing/2014/main" id="{7A238175-82C9-DAAC-E1BF-1448F9C89FF8}"/>
              </a:ext>
            </a:extLst>
          </p:cNvPr>
          <p:cNvSpPr txBox="1"/>
          <p:nvPr/>
        </p:nvSpPr>
        <p:spPr>
          <a:xfrm>
            <a:off x="1027522" y="6193410"/>
            <a:ext cx="2102177" cy="369332"/>
          </a:xfrm>
          <a:prstGeom prst="rect">
            <a:avLst/>
          </a:prstGeom>
          <a:solidFill>
            <a:srgbClr val="9A82C0"/>
          </a:solidFill>
        </p:spPr>
        <p:txBody>
          <a:bodyPr wrap="square" rtlCol="0">
            <a:spAutoFit/>
          </a:bodyPr>
          <a:lstStyle/>
          <a:p>
            <a:r>
              <a:rPr lang="en-IN" b="1">
                <a:solidFill>
                  <a:schemeClr val="bg1"/>
                </a:solidFill>
              </a:rPr>
              <a:t>OPEN SETTINGS</a:t>
            </a:r>
            <a:endParaRPr lang="en-IN" sz="2252">
              <a:solidFill>
                <a:schemeClr val="bg1"/>
              </a:solidFill>
            </a:endParaRPr>
          </a:p>
        </p:txBody>
      </p:sp>
      <p:cxnSp>
        <p:nvCxnSpPr>
          <p:cNvPr id="21" name="Straight Connector 20">
            <a:extLst>
              <a:ext uri="{FF2B5EF4-FFF2-40B4-BE49-F238E27FC236}">
                <a16:creationId xmlns:a16="http://schemas.microsoft.com/office/drawing/2014/main" id="{C9C22CED-B9A9-A00E-5125-2CDE067170EA}"/>
              </a:ext>
            </a:extLst>
          </p:cNvPr>
          <p:cNvCxnSpPr>
            <a:cxnSpLocks/>
          </p:cNvCxnSpPr>
          <p:nvPr/>
        </p:nvCxnSpPr>
        <p:spPr>
          <a:xfrm>
            <a:off x="909917" y="3504414"/>
            <a:ext cx="1107419" cy="0"/>
          </a:xfrm>
          <a:prstGeom prst="line">
            <a:avLst/>
          </a:prstGeom>
          <a:ln w="28575">
            <a:solidFill>
              <a:srgbClr val="704EA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83A310-35F1-DE64-C7A2-6CD3F5F5CA92}"/>
              </a:ext>
            </a:extLst>
          </p:cNvPr>
          <p:cNvCxnSpPr>
            <a:cxnSpLocks/>
          </p:cNvCxnSpPr>
          <p:nvPr/>
        </p:nvCxnSpPr>
        <p:spPr>
          <a:xfrm>
            <a:off x="2316753" y="3494201"/>
            <a:ext cx="1107419" cy="0"/>
          </a:xfrm>
          <a:prstGeom prst="line">
            <a:avLst/>
          </a:prstGeom>
          <a:ln w="28575">
            <a:solidFill>
              <a:srgbClr val="704EA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D0EB56F-7F5A-50B0-78A4-53001F227C35}"/>
              </a:ext>
            </a:extLst>
          </p:cNvPr>
          <p:cNvCxnSpPr>
            <a:cxnSpLocks/>
          </p:cNvCxnSpPr>
          <p:nvPr/>
        </p:nvCxnSpPr>
        <p:spPr>
          <a:xfrm>
            <a:off x="3850063" y="3494201"/>
            <a:ext cx="1107419" cy="0"/>
          </a:xfrm>
          <a:prstGeom prst="line">
            <a:avLst/>
          </a:prstGeom>
          <a:ln w="28575">
            <a:solidFill>
              <a:srgbClr val="704EA6"/>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4451530-D272-20A2-EEC0-F41A14C62D87}"/>
              </a:ext>
            </a:extLst>
          </p:cNvPr>
          <p:cNvCxnSpPr>
            <a:cxnSpLocks/>
          </p:cNvCxnSpPr>
          <p:nvPr/>
        </p:nvCxnSpPr>
        <p:spPr>
          <a:xfrm>
            <a:off x="909917" y="5042554"/>
            <a:ext cx="1107419" cy="0"/>
          </a:xfrm>
          <a:prstGeom prst="line">
            <a:avLst/>
          </a:prstGeom>
          <a:ln w="28575">
            <a:solidFill>
              <a:srgbClr val="704EA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2D98AFC-91BB-173D-0016-FA5313938EC0}"/>
              </a:ext>
            </a:extLst>
          </p:cNvPr>
          <p:cNvCxnSpPr>
            <a:cxnSpLocks/>
          </p:cNvCxnSpPr>
          <p:nvPr/>
        </p:nvCxnSpPr>
        <p:spPr>
          <a:xfrm>
            <a:off x="2446486" y="5146249"/>
            <a:ext cx="1107419" cy="0"/>
          </a:xfrm>
          <a:prstGeom prst="line">
            <a:avLst/>
          </a:prstGeom>
          <a:ln w="28575">
            <a:solidFill>
              <a:srgbClr val="704EA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a:solidFill>
                  <a:srgbClr val="704EA6"/>
                </a:solidFill>
                <a:latin typeface="+mn-lt"/>
              </a:rPr>
              <a:t>Demo &amp; Product Walkthrough</a:t>
            </a:r>
          </a:p>
        </p:txBody>
      </p:sp>
      <p:sp>
        <p:nvSpPr>
          <p:cNvPr id="5" name="Rounded Rectangle 2">
            <a:extLst>
              <a:ext uri="{FF2B5EF4-FFF2-40B4-BE49-F238E27FC236}">
                <a16:creationId xmlns:a16="http://schemas.microsoft.com/office/drawing/2014/main" id="{A60B444D-5149-898E-09A1-2A75E457F789}"/>
              </a:ext>
            </a:extLst>
          </p:cNvPr>
          <p:cNvSpPr/>
          <p:nvPr/>
        </p:nvSpPr>
        <p:spPr>
          <a:xfrm>
            <a:off x="741569" y="1484439"/>
            <a:ext cx="5120640" cy="42976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06923986-B1C3-EBDC-E3D1-F358D6524913}"/>
              </a:ext>
            </a:extLst>
          </p:cNvPr>
          <p:cNvSpPr txBox="1"/>
          <p:nvPr/>
        </p:nvSpPr>
        <p:spPr>
          <a:xfrm>
            <a:off x="1024933" y="1815938"/>
            <a:ext cx="4754880" cy="3544560"/>
          </a:xfrm>
          <a:prstGeom prst="rect">
            <a:avLst/>
          </a:prstGeom>
          <a:noFill/>
        </p:spPr>
        <p:txBody>
          <a:bodyPr wrap="square" lIns="0" tIns="0" rIns="0" bIns="0">
            <a:spAutoFit/>
          </a:bodyPr>
          <a:lstStyle/>
          <a:p>
            <a:pPr>
              <a:defRPr sz="1500" b="1">
                <a:solidFill>
                  <a:srgbClr val="002C6C"/>
                </a:solidFill>
              </a:defRPr>
            </a:pPr>
            <a:r>
              <a:rPr dirty="0"/>
              <a:t>End-to-End Complaint Processing (Row 21)</a:t>
            </a:r>
          </a:p>
          <a:p>
            <a:pPr>
              <a:spcBef>
                <a:spcPts val="800"/>
              </a:spcBef>
            </a:pPr>
            <a:r>
              <a:rPr sz="1400" b="1" dirty="0">
                <a:solidFill>
                  <a:srgbClr val="1E293B"/>
                </a:solidFill>
              </a:rPr>
              <a:t>User Complaint:</a:t>
            </a:r>
            <a:r>
              <a:rPr sz="1400" dirty="0">
                <a:solidFill>
                  <a:srgbClr val="64748B"/>
                </a:solidFill>
              </a:rPr>
              <a:t> 'My Galaxy S22 screen inputs are delayed and the touch responsiveness is laggy, causing a noticeable delay...'</a:t>
            </a:r>
          </a:p>
          <a:p>
            <a:pPr>
              <a:spcBef>
                <a:spcPts val="800"/>
              </a:spcBef>
            </a:pPr>
            <a:r>
              <a:rPr sz="1400" b="1" dirty="0">
                <a:solidFill>
                  <a:srgbClr val="1E293B"/>
                </a:solidFill>
              </a:rPr>
              <a:t>1. Reference Match:</a:t>
            </a:r>
            <a:r>
              <a:rPr sz="1400" dirty="0">
                <a:solidFill>
                  <a:srgbClr val="64748B"/>
                </a:solidFill>
              </a:rPr>
              <a:t> Dual-field TF-IDF retriever routes to Touchscreen Issues SIIS with 0.83 similarity (100% 20/20 self-match).</a:t>
            </a:r>
          </a:p>
          <a:p>
            <a:pPr>
              <a:spcBef>
                <a:spcPts val="800"/>
              </a:spcBef>
            </a:pPr>
            <a:r>
              <a:rPr sz="1400" b="1" dirty="0">
                <a:solidFill>
                  <a:srgbClr val="1E293B"/>
                </a:solidFill>
              </a:rPr>
              <a:t>2. Zero-Hallucination Extraction:</a:t>
            </a:r>
            <a:r>
              <a:rPr sz="1400" dirty="0">
                <a:solidFill>
                  <a:srgbClr val="64748B"/>
                </a:solidFill>
              </a:rPr>
              <a:t> Gemini 3.6 Flash structured JSON schema extracts 4 atomic steps verified by exact substring quotes.</a:t>
            </a:r>
          </a:p>
          <a:p>
            <a:pPr>
              <a:spcBef>
                <a:spcPts val="800"/>
              </a:spcBef>
            </a:pPr>
            <a:r>
              <a:rPr sz="1400" b="1" dirty="0">
                <a:solidFill>
                  <a:srgbClr val="1E293B"/>
                </a:solidFill>
              </a:rPr>
              <a:t>3. Rule-Bound Planning:</a:t>
            </a:r>
            <a:r>
              <a:rPr sz="1400" dirty="0">
                <a:solidFill>
                  <a:srgbClr val="64748B"/>
                </a:solidFill>
              </a:rPr>
              <a:t> Generates goal title 'Full screen gestures' (3 words) and action description starting with 'It will' (6 words).</a:t>
            </a:r>
          </a:p>
          <a:p>
            <a:pPr>
              <a:spcBef>
                <a:spcPts val="800"/>
              </a:spcBef>
            </a:pPr>
            <a:r>
              <a:rPr sz="1400" b="1" dirty="0">
                <a:solidFill>
                  <a:srgbClr val="1E293B"/>
                </a:solidFill>
              </a:rPr>
              <a:t>4. Sub-Millisecond Cache Hit:</a:t>
            </a:r>
            <a:r>
              <a:rPr sz="1400" dirty="0">
                <a:solidFill>
                  <a:srgbClr val="64748B"/>
                </a:solidFill>
              </a:rPr>
              <a:t> Pre-warmed cache returns in 0.95 </a:t>
            </a:r>
            <a:r>
              <a:rPr sz="1400" dirty="0" err="1">
                <a:solidFill>
                  <a:srgbClr val="64748B"/>
                </a:solidFill>
              </a:rPr>
              <a:t>ms</a:t>
            </a:r>
            <a:r>
              <a:rPr sz="1400" dirty="0">
                <a:solidFill>
                  <a:srgbClr val="64748B"/>
                </a:solidFill>
              </a:rPr>
              <a:t> with </a:t>
            </a:r>
            <a:r>
              <a:rPr sz="1400" dirty="0" err="1">
                <a:solidFill>
                  <a:srgbClr val="64748B"/>
                </a:solidFill>
              </a:rPr>
              <a:t>cache_hit</a:t>
            </a:r>
            <a:r>
              <a:rPr sz="1400" dirty="0">
                <a:solidFill>
                  <a:srgbClr val="64748B"/>
                </a:solidFill>
              </a:rPr>
              <a:t>=True at $0.00 runtime cost!</a:t>
            </a:r>
          </a:p>
        </p:txBody>
      </p:sp>
      <p:sp>
        <p:nvSpPr>
          <p:cNvPr id="9" name="Rounded Rectangle 4">
            <a:extLst>
              <a:ext uri="{FF2B5EF4-FFF2-40B4-BE49-F238E27FC236}">
                <a16:creationId xmlns:a16="http://schemas.microsoft.com/office/drawing/2014/main" id="{589596F0-E679-0C2B-E96A-BAC3321927D5}"/>
              </a:ext>
            </a:extLst>
          </p:cNvPr>
          <p:cNvSpPr/>
          <p:nvPr/>
        </p:nvSpPr>
        <p:spPr>
          <a:xfrm>
            <a:off x="6227969" y="1542422"/>
            <a:ext cx="5212080" cy="42976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2ABDC7DA-26CB-9603-73A8-3374CEF14F55}"/>
              </a:ext>
            </a:extLst>
          </p:cNvPr>
          <p:cNvSpPr txBox="1"/>
          <p:nvPr/>
        </p:nvSpPr>
        <p:spPr>
          <a:xfrm>
            <a:off x="6519232" y="1873826"/>
            <a:ext cx="4846320" cy="3724096"/>
          </a:xfrm>
          <a:prstGeom prst="rect">
            <a:avLst/>
          </a:prstGeom>
          <a:noFill/>
        </p:spPr>
        <p:txBody>
          <a:bodyPr wrap="square" lIns="0" tIns="0" rIns="0" bIns="0">
            <a:spAutoFit/>
          </a:bodyPr>
          <a:lstStyle/>
          <a:p>
            <a:pPr>
              <a:defRPr sz="1500" b="1">
                <a:solidFill>
                  <a:srgbClr val="002C6C"/>
                </a:solidFill>
              </a:defRPr>
            </a:pPr>
            <a:r>
              <a:rPr sz="1400" dirty="0"/>
              <a:t>Official One UI Schema &amp; Bixby Deep Links</a:t>
            </a:r>
          </a:p>
          <a:p>
            <a:pPr>
              <a:spcBef>
                <a:spcPts val="800"/>
              </a:spcBef>
            </a:pPr>
            <a:r>
              <a:rPr sz="1400" b="1" dirty="0">
                <a:solidFill>
                  <a:srgbClr val="1E293B"/>
                </a:solidFill>
              </a:rPr>
              <a:t>Matched Catalogue Destination:</a:t>
            </a:r>
            <a:r>
              <a:rPr sz="1400" dirty="0">
                <a:solidFill>
                  <a:srgbClr val="64748B"/>
                </a:solidFill>
              </a:rPr>
              <a:t> DL-0169 (Navigation Bar Settings) with high score 0.78 beating runner-up by 0.22 margin.</a:t>
            </a:r>
          </a:p>
          <a:p>
            <a:pPr>
              <a:spcBef>
                <a:spcPts val="800"/>
              </a:spcBef>
            </a:pPr>
            <a:r>
              <a:rPr sz="1400" b="1" dirty="0">
                <a:solidFill>
                  <a:srgbClr val="1E293B"/>
                </a:solidFill>
              </a:rPr>
              <a:t>Actionable Bixby URI:</a:t>
            </a:r>
            <a:r>
              <a:rPr sz="1400" dirty="0">
                <a:solidFill>
                  <a:srgbClr val="64748B"/>
                </a:solidFill>
              </a:rPr>
              <a:t>
 bixby://masked/act/2f3dd95259
 (Launches user directly into One UI Navigation Bar)</a:t>
            </a:r>
          </a:p>
          <a:p>
            <a:pPr>
              <a:spcBef>
                <a:spcPts val="800"/>
              </a:spcBef>
            </a:pPr>
            <a:r>
              <a:rPr sz="1400" b="1" dirty="0">
                <a:solidFill>
                  <a:srgbClr val="1E293B"/>
                </a:solidFill>
              </a:rPr>
              <a:t>Validation Bixby URI:</a:t>
            </a:r>
            <a:r>
              <a:rPr sz="1400" dirty="0">
                <a:solidFill>
                  <a:srgbClr val="64748B"/>
                </a:solidFill>
              </a:rPr>
              <a:t>
 bixby://masked/val/d8310c1b7d
 (Validates post-execution state on One UI device)</a:t>
            </a:r>
          </a:p>
          <a:p>
            <a:pPr>
              <a:spcBef>
                <a:spcPts val="800"/>
              </a:spcBef>
            </a:pPr>
            <a:r>
              <a:rPr sz="1400" b="1" dirty="0">
                <a:solidFill>
                  <a:srgbClr val="1E293B"/>
                </a:solidFill>
              </a:rPr>
              <a:t>Production Rule Compliance:</a:t>
            </a:r>
            <a:r>
              <a:rPr sz="1400" dirty="0">
                <a:solidFill>
                  <a:srgbClr val="64748B"/>
                </a:solidFill>
              </a:rPr>
              <a:t> Evaluated against authoritative 13-rule validator -&gt; Exactly 0 fatal violations (100% clean).</a:t>
            </a:r>
          </a:p>
          <a:p>
            <a:pPr>
              <a:spcBef>
                <a:spcPts val="800"/>
              </a:spcBef>
            </a:pPr>
            <a:r>
              <a:rPr sz="1400" b="1" dirty="0">
                <a:solidFill>
                  <a:srgbClr val="1E293B"/>
                </a:solidFill>
              </a:rPr>
              <a:t>Test Suite Verification:</a:t>
            </a:r>
            <a:r>
              <a:rPr sz="1400" dirty="0">
                <a:solidFill>
                  <a:srgbClr val="64748B"/>
                </a:solidFill>
              </a:rPr>
              <a:t> All 169 unit &amp; integration tests passing across 15 test suites in under 30 seconds.</a:t>
            </a:r>
          </a:p>
        </p:txBody>
      </p:sp>
      <p:sp>
        <p:nvSpPr>
          <p:cNvPr id="13" name="Rounded Rectangle 6">
            <a:extLst>
              <a:ext uri="{FF2B5EF4-FFF2-40B4-BE49-F238E27FC236}">
                <a16:creationId xmlns:a16="http://schemas.microsoft.com/office/drawing/2014/main" id="{1B949BC9-ED74-9ABD-294B-10893AA6BD58}"/>
              </a:ext>
            </a:extLst>
          </p:cNvPr>
          <p:cNvSpPr/>
          <p:nvPr/>
        </p:nvSpPr>
        <p:spPr>
          <a:xfrm>
            <a:off x="741569" y="6022982"/>
            <a:ext cx="10698480" cy="59436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15" name="TextBox 14">
            <a:extLst>
              <a:ext uri="{FF2B5EF4-FFF2-40B4-BE49-F238E27FC236}">
                <a16:creationId xmlns:a16="http://schemas.microsoft.com/office/drawing/2014/main" id="{3EB42DB9-168F-35F6-D301-5174A036D956}"/>
              </a:ext>
            </a:extLst>
          </p:cNvPr>
          <p:cNvSpPr txBox="1"/>
          <p:nvPr/>
        </p:nvSpPr>
        <p:spPr>
          <a:xfrm>
            <a:off x="814364" y="6068702"/>
            <a:ext cx="10552890" cy="307777"/>
          </a:xfrm>
          <a:prstGeom prst="rect">
            <a:avLst/>
          </a:prstGeom>
          <a:noFill/>
        </p:spPr>
        <p:txBody>
          <a:bodyPr wrap="none">
            <a:spAutoFit/>
          </a:bodyPr>
          <a:lstStyle/>
          <a:p>
            <a:pPr algn="ctr"/>
            <a:r>
              <a:rPr sz="1400" b="1" dirty="0">
                <a:solidFill>
                  <a:srgbClr val="059669"/>
                </a:solidFill>
              </a:rPr>
              <a:t>⚡ Live API Performance: </a:t>
            </a:r>
            <a:r>
              <a:rPr sz="1400" dirty="0">
                <a:solidFill>
                  <a:srgbClr val="1E293B"/>
                </a:solidFill>
              </a:rPr>
              <a:t>GET /health Ready (578 Deep Links, 20 References) | POST /v1/troubleshoot returned in 0.95ms | 169 Tests Passing</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a:solidFill>
                  <a:srgbClr val="704EA6"/>
                </a:solidFill>
                <a:latin typeface="Calibri" pitchFamily="34" charset="0"/>
                <a:ea typeface="Calibri" pitchFamily="34" charset="-122"/>
                <a:cs typeface="Calibri" pitchFamily="34" charset="-120"/>
              </a:rPr>
              <a:t>Tools and tech stack used</a:t>
            </a:r>
            <a:endParaRPr lang="en-IN" b="1">
              <a:solidFill>
                <a:srgbClr val="704EA6"/>
              </a:solidFill>
            </a:endParaRPr>
          </a:p>
        </p:txBody>
      </p:sp>
      <p:sp>
        <p:nvSpPr>
          <p:cNvPr id="5" name="Rounded Rectangle 2">
            <a:extLst>
              <a:ext uri="{FF2B5EF4-FFF2-40B4-BE49-F238E27FC236}">
                <a16:creationId xmlns:a16="http://schemas.microsoft.com/office/drawing/2014/main" id="{D5215B2E-1C4A-9A89-D094-596FDED4DC9F}"/>
              </a:ext>
            </a:extLst>
          </p:cNvPr>
          <p:cNvSpPr/>
          <p:nvPr/>
        </p:nvSpPr>
        <p:spPr>
          <a:xfrm>
            <a:off x="731520" y="1371600"/>
            <a:ext cx="5120640" cy="2377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0FC712C6-A6D8-6182-E48C-F7A97B15ACA0}"/>
              </a:ext>
            </a:extLst>
          </p:cNvPr>
          <p:cNvSpPr txBox="1"/>
          <p:nvPr/>
        </p:nvSpPr>
        <p:spPr>
          <a:xfrm>
            <a:off x="914400" y="1508760"/>
            <a:ext cx="4754880" cy="1969770"/>
          </a:xfrm>
          <a:prstGeom prst="rect">
            <a:avLst/>
          </a:prstGeom>
          <a:noFill/>
        </p:spPr>
        <p:txBody>
          <a:bodyPr wrap="square">
            <a:spAutoFit/>
          </a:bodyPr>
          <a:lstStyle/>
          <a:p>
            <a:pPr>
              <a:defRPr sz="1200" b="1">
                <a:solidFill>
                  <a:srgbClr val="002C6C"/>
                </a:solidFill>
              </a:defRPr>
            </a:pPr>
            <a:r>
              <a:rPr sz="1600" dirty="0"/>
              <a:t>Core Backend &amp; API Service</a:t>
            </a:r>
          </a:p>
          <a:p>
            <a:pPr>
              <a:spcBef>
                <a:spcPts val="300"/>
              </a:spcBef>
            </a:pPr>
            <a:r>
              <a:rPr sz="1600" b="1" dirty="0">
                <a:solidFill>
                  <a:srgbClr val="1E293B"/>
                </a:solidFill>
              </a:rPr>
              <a:t>• Python 3.12: </a:t>
            </a:r>
            <a:r>
              <a:rPr sz="1600" dirty="0">
                <a:solidFill>
                  <a:srgbClr val="64748B"/>
                </a:solidFill>
              </a:rPr>
              <a:t>Modern, asynchronous execution runtime</a:t>
            </a:r>
          </a:p>
          <a:p>
            <a:pPr>
              <a:spcBef>
                <a:spcPts val="300"/>
              </a:spcBef>
            </a:pPr>
            <a:r>
              <a:rPr sz="1600" b="1" dirty="0">
                <a:solidFill>
                  <a:srgbClr val="1E293B"/>
                </a:solidFill>
              </a:rPr>
              <a:t>• </a:t>
            </a:r>
            <a:r>
              <a:rPr sz="1600" b="1" dirty="0" err="1">
                <a:solidFill>
                  <a:srgbClr val="1E293B"/>
                </a:solidFill>
              </a:rPr>
              <a:t>FastAPI</a:t>
            </a:r>
            <a:r>
              <a:rPr sz="1600" b="1" dirty="0">
                <a:solidFill>
                  <a:srgbClr val="1E293B"/>
                </a:solidFill>
              </a:rPr>
              <a:t>: </a:t>
            </a:r>
            <a:r>
              <a:rPr sz="1600" dirty="0">
                <a:solidFill>
                  <a:srgbClr val="64748B"/>
                </a:solidFill>
              </a:rPr>
              <a:t>High-performance production REST microservice</a:t>
            </a:r>
          </a:p>
          <a:p>
            <a:pPr>
              <a:spcBef>
                <a:spcPts val="300"/>
              </a:spcBef>
            </a:pPr>
            <a:r>
              <a:rPr sz="1600" b="1" dirty="0">
                <a:solidFill>
                  <a:srgbClr val="1E293B"/>
                </a:solidFill>
              </a:rPr>
              <a:t>• </a:t>
            </a:r>
            <a:r>
              <a:rPr sz="1600" b="1" dirty="0" err="1">
                <a:solidFill>
                  <a:srgbClr val="1E293B"/>
                </a:solidFill>
              </a:rPr>
              <a:t>Uvicorn</a:t>
            </a:r>
            <a:r>
              <a:rPr sz="1600" b="1" dirty="0">
                <a:solidFill>
                  <a:srgbClr val="1E293B"/>
                </a:solidFill>
              </a:rPr>
              <a:t>: </a:t>
            </a:r>
            <a:r>
              <a:rPr sz="1600" dirty="0">
                <a:solidFill>
                  <a:srgbClr val="64748B"/>
                </a:solidFill>
              </a:rPr>
              <a:t>Lightning-fast ASGI production server</a:t>
            </a:r>
          </a:p>
          <a:p>
            <a:pPr>
              <a:spcBef>
                <a:spcPts val="300"/>
              </a:spcBef>
            </a:pPr>
            <a:r>
              <a:rPr sz="1600" b="1" dirty="0">
                <a:solidFill>
                  <a:srgbClr val="1E293B"/>
                </a:solidFill>
              </a:rPr>
              <a:t>• Docker: </a:t>
            </a:r>
            <a:r>
              <a:rPr sz="1600" dirty="0">
                <a:solidFill>
                  <a:srgbClr val="64748B"/>
                </a:solidFill>
              </a:rPr>
              <a:t>Containerized zero-friction deployment</a:t>
            </a:r>
          </a:p>
        </p:txBody>
      </p:sp>
      <p:sp>
        <p:nvSpPr>
          <p:cNvPr id="9" name="Rounded Rectangle 4">
            <a:extLst>
              <a:ext uri="{FF2B5EF4-FFF2-40B4-BE49-F238E27FC236}">
                <a16:creationId xmlns:a16="http://schemas.microsoft.com/office/drawing/2014/main" id="{ED5D8761-C06F-4CDA-CA86-389E7F2CBD1E}"/>
              </a:ext>
            </a:extLst>
          </p:cNvPr>
          <p:cNvSpPr/>
          <p:nvPr/>
        </p:nvSpPr>
        <p:spPr>
          <a:xfrm>
            <a:off x="6217920" y="1371600"/>
            <a:ext cx="5120640" cy="2377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B7556F31-948D-5ACD-BDC8-1203DFA6E8F7}"/>
              </a:ext>
            </a:extLst>
          </p:cNvPr>
          <p:cNvSpPr txBox="1"/>
          <p:nvPr/>
        </p:nvSpPr>
        <p:spPr>
          <a:xfrm>
            <a:off x="6400800" y="1508760"/>
            <a:ext cx="4754880" cy="2092881"/>
          </a:xfrm>
          <a:prstGeom prst="rect">
            <a:avLst/>
          </a:prstGeom>
          <a:noFill/>
        </p:spPr>
        <p:txBody>
          <a:bodyPr wrap="square">
            <a:spAutoFit/>
          </a:bodyPr>
          <a:lstStyle/>
          <a:p>
            <a:pPr>
              <a:defRPr sz="1200" b="1">
                <a:solidFill>
                  <a:srgbClr val="002C6C"/>
                </a:solidFill>
              </a:defRPr>
            </a:pPr>
            <a:r>
              <a:rPr sz="1500" dirty="0"/>
              <a:t>Model Inference &amp; Semantic Cache</a:t>
            </a:r>
          </a:p>
          <a:p>
            <a:pPr>
              <a:spcBef>
                <a:spcPts val="300"/>
              </a:spcBef>
            </a:pPr>
            <a:r>
              <a:rPr sz="1500" b="1" dirty="0">
                <a:solidFill>
                  <a:srgbClr val="1E293B"/>
                </a:solidFill>
              </a:rPr>
              <a:t>• Google Gemini 3.6 Flash: </a:t>
            </a:r>
            <a:r>
              <a:rPr sz="1500" dirty="0">
                <a:solidFill>
                  <a:srgbClr val="64748B"/>
                </a:solidFill>
              </a:rPr>
              <a:t>Grounded step extraction &amp; planning</a:t>
            </a:r>
          </a:p>
          <a:p>
            <a:pPr>
              <a:spcBef>
                <a:spcPts val="300"/>
              </a:spcBef>
            </a:pPr>
            <a:r>
              <a:rPr sz="1500" b="1" dirty="0">
                <a:solidFill>
                  <a:srgbClr val="1E293B"/>
                </a:solidFill>
              </a:rPr>
              <a:t>• Structured JSON Schema: </a:t>
            </a:r>
            <a:r>
              <a:rPr sz="1500" dirty="0">
                <a:solidFill>
                  <a:srgbClr val="64748B"/>
                </a:solidFill>
              </a:rPr>
              <a:t>Strict </a:t>
            </a:r>
            <a:r>
              <a:rPr sz="1500" dirty="0" err="1">
                <a:solidFill>
                  <a:srgbClr val="64748B"/>
                </a:solidFill>
              </a:rPr>
              <a:t>response_json_schema</a:t>
            </a:r>
            <a:r>
              <a:rPr sz="1500" dirty="0">
                <a:solidFill>
                  <a:srgbClr val="64748B"/>
                </a:solidFill>
              </a:rPr>
              <a:t> enforcement</a:t>
            </a:r>
          </a:p>
          <a:p>
            <a:pPr>
              <a:spcBef>
                <a:spcPts val="300"/>
              </a:spcBef>
            </a:pPr>
            <a:r>
              <a:rPr sz="1500" b="1" dirty="0">
                <a:solidFill>
                  <a:srgbClr val="1E293B"/>
                </a:solidFill>
              </a:rPr>
              <a:t>• scikit-learn TF-IDF: </a:t>
            </a:r>
            <a:r>
              <a:rPr sz="1500" dirty="0">
                <a:solidFill>
                  <a:srgbClr val="64748B"/>
                </a:solidFill>
              </a:rPr>
              <a:t>Dual-field query and body similarity</a:t>
            </a:r>
          </a:p>
          <a:p>
            <a:pPr>
              <a:spcBef>
                <a:spcPts val="300"/>
              </a:spcBef>
            </a:pPr>
            <a:r>
              <a:rPr sz="1500" b="1" dirty="0">
                <a:solidFill>
                  <a:srgbClr val="1E293B"/>
                </a:solidFill>
              </a:rPr>
              <a:t>• Dual-Field Semantic Cache: </a:t>
            </a:r>
            <a:r>
              <a:rPr sz="1500" dirty="0">
                <a:solidFill>
                  <a:srgbClr val="64748B"/>
                </a:solidFill>
              </a:rPr>
              <a:t>Word unigram + char n-gram in-memory cache</a:t>
            </a:r>
          </a:p>
        </p:txBody>
      </p:sp>
      <p:sp>
        <p:nvSpPr>
          <p:cNvPr id="13" name="Rounded Rectangle 6">
            <a:extLst>
              <a:ext uri="{FF2B5EF4-FFF2-40B4-BE49-F238E27FC236}">
                <a16:creationId xmlns:a16="http://schemas.microsoft.com/office/drawing/2014/main" id="{778D4F0A-1DEF-2490-48C2-6E0E6C104D54}"/>
              </a:ext>
            </a:extLst>
          </p:cNvPr>
          <p:cNvSpPr/>
          <p:nvPr/>
        </p:nvSpPr>
        <p:spPr>
          <a:xfrm>
            <a:off x="731520" y="3931920"/>
            <a:ext cx="5120640" cy="2377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6132C992-465B-D5BF-6DBB-42A3DA85EC71}"/>
              </a:ext>
            </a:extLst>
          </p:cNvPr>
          <p:cNvSpPr txBox="1"/>
          <p:nvPr/>
        </p:nvSpPr>
        <p:spPr>
          <a:xfrm>
            <a:off x="914400" y="4069080"/>
            <a:ext cx="4754880" cy="2215991"/>
          </a:xfrm>
          <a:prstGeom prst="rect">
            <a:avLst/>
          </a:prstGeom>
          <a:noFill/>
        </p:spPr>
        <p:txBody>
          <a:bodyPr wrap="square">
            <a:spAutoFit/>
          </a:bodyPr>
          <a:lstStyle/>
          <a:p>
            <a:pPr>
              <a:defRPr sz="1200" b="1">
                <a:solidFill>
                  <a:srgbClr val="002C6C"/>
                </a:solidFill>
              </a:defRPr>
            </a:pPr>
            <a:r>
              <a:rPr sz="1600" dirty="0"/>
              <a:t>Data Validation &amp; Guardrails</a:t>
            </a:r>
          </a:p>
          <a:p>
            <a:pPr>
              <a:spcBef>
                <a:spcPts val="300"/>
              </a:spcBef>
            </a:pPr>
            <a:r>
              <a:rPr sz="1600" b="1" dirty="0">
                <a:solidFill>
                  <a:srgbClr val="1E293B"/>
                </a:solidFill>
              </a:rPr>
              <a:t>• </a:t>
            </a:r>
            <a:r>
              <a:rPr sz="1600" b="1" dirty="0" err="1">
                <a:solidFill>
                  <a:srgbClr val="1E293B"/>
                </a:solidFill>
              </a:rPr>
              <a:t>Pydantic</a:t>
            </a:r>
            <a:r>
              <a:rPr sz="1600" b="1" dirty="0">
                <a:solidFill>
                  <a:srgbClr val="1E293B"/>
                </a:solidFill>
              </a:rPr>
              <a:t> v2: </a:t>
            </a:r>
            <a:r>
              <a:rPr sz="1600" dirty="0">
                <a:solidFill>
                  <a:srgbClr val="64748B"/>
                </a:solidFill>
              </a:rPr>
              <a:t>Strict schemas with extra='forbid' guardrails</a:t>
            </a:r>
          </a:p>
          <a:p>
            <a:pPr>
              <a:spcBef>
                <a:spcPts val="300"/>
              </a:spcBef>
            </a:pPr>
            <a:r>
              <a:rPr sz="1600" b="1" dirty="0">
                <a:solidFill>
                  <a:srgbClr val="1E293B"/>
                </a:solidFill>
              </a:rPr>
              <a:t>• Substring Quote Validator: </a:t>
            </a:r>
            <a:r>
              <a:rPr sz="1600" dirty="0">
                <a:solidFill>
                  <a:srgbClr val="64748B"/>
                </a:solidFill>
              </a:rPr>
              <a:t>Guarantees zero hallucinations mathematically</a:t>
            </a:r>
          </a:p>
          <a:p>
            <a:pPr>
              <a:spcBef>
                <a:spcPts val="300"/>
              </a:spcBef>
            </a:pPr>
            <a:r>
              <a:rPr sz="1600" b="1" dirty="0">
                <a:solidFill>
                  <a:srgbClr val="1E293B"/>
                </a:solidFill>
              </a:rPr>
              <a:t>• 13-Rule Business Validator: </a:t>
            </a:r>
            <a:r>
              <a:rPr sz="1600" dirty="0">
                <a:solidFill>
                  <a:srgbClr val="64748B"/>
                </a:solidFill>
              </a:rPr>
              <a:t>Separated into fatal vs. non-fatal rules</a:t>
            </a:r>
          </a:p>
          <a:p>
            <a:pPr>
              <a:spcBef>
                <a:spcPts val="300"/>
              </a:spcBef>
            </a:pPr>
            <a:r>
              <a:rPr sz="1600" b="1" dirty="0">
                <a:solidFill>
                  <a:srgbClr val="1E293B"/>
                </a:solidFill>
              </a:rPr>
              <a:t>• python-</a:t>
            </a:r>
            <a:r>
              <a:rPr sz="1600" b="1" dirty="0" err="1">
                <a:solidFill>
                  <a:srgbClr val="1E293B"/>
                </a:solidFill>
              </a:rPr>
              <a:t>dotenv</a:t>
            </a:r>
            <a:r>
              <a:rPr sz="1600" b="1" dirty="0">
                <a:solidFill>
                  <a:srgbClr val="1E293B"/>
                </a:solidFill>
              </a:rPr>
              <a:t>: </a:t>
            </a:r>
            <a:r>
              <a:rPr sz="1600" dirty="0">
                <a:solidFill>
                  <a:srgbClr val="64748B"/>
                </a:solidFill>
              </a:rPr>
              <a:t>Secure private credential isolation</a:t>
            </a:r>
          </a:p>
        </p:txBody>
      </p:sp>
      <p:sp>
        <p:nvSpPr>
          <p:cNvPr id="17" name="Rounded Rectangle 8">
            <a:extLst>
              <a:ext uri="{FF2B5EF4-FFF2-40B4-BE49-F238E27FC236}">
                <a16:creationId xmlns:a16="http://schemas.microsoft.com/office/drawing/2014/main" id="{CE75DCC7-CD66-FB2B-3244-9B56499BA978}"/>
              </a:ext>
            </a:extLst>
          </p:cNvPr>
          <p:cNvSpPr/>
          <p:nvPr/>
        </p:nvSpPr>
        <p:spPr>
          <a:xfrm>
            <a:off x="6217920" y="3931920"/>
            <a:ext cx="5120640" cy="2377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2DF5106A-BDFF-E94E-C98B-7A252EEC7FD2}"/>
              </a:ext>
            </a:extLst>
          </p:cNvPr>
          <p:cNvSpPr txBox="1"/>
          <p:nvPr/>
        </p:nvSpPr>
        <p:spPr>
          <a:xfrm>
            <a:off x="6400800" y="4069080"/>
            <a:ext cx="4754880" cy="2215991"/>
          </a:xfrm>
          <a:prstGeom prst="rect">
            <a:avLst/>
          </a:prstGeom>
          <a:noFill/>
        </p:spPr>
        <p:txBody>
          <a:bodyPr wrap="square">
            <a:spAutoFit/>
          </a:bodyPr>
          <a:lstStyle/>
          <a:p>
            <a:pPr>
              <a:defRPr sz="1200" b="1">
                <a:solidFill>
                  <a:srgbClr val="002C6C"/>
                </a:solidFill>
              </a:defRPr>
            </a:pPr>
            <a:r>
              <a:rPr sz="1600" dirty="0"/>
              <a:t>Testing &amp; Quality Assurance</a:t>
            </a:r>
          </a:p>
          <a:p>
            <a:pPr>
              <a:spcBef>
                <a:spcPts val="300"/>
              </a:spcBef>
            </a:pPr>
            <a:r>
              <a:rPr sz="1600" b="1" dirty="0">
                <a:solidFill>
                  <a:srgbClr val="1E293B"/>
                </a:solidFill>
              </a:rPr>
              <a:t>• </a:t>
            </a:r>
            <a:r>
              <a:rPr sz="1600" b="1" dirty="0" err="1">
                <a:solidFill>
                  <a:srgbClr val="1E293B"/>
                </a:solidFill>
              </a:rPr>
              <a:t>pytest</a:t>
            </a:r>
            <a:r>
              <a:rPr sz="1600" b="1" dirty="0">
                <a:solidFill>
                  <a:srgbClr val="1E293B"/>
                </a:solidFill>
              </a:rPr>
              <a:t> 8.4: </a:t>
            </a:r>
            <a:r>
              <a:rPr sz="1600" dirty="0">
                <a:solidFill>
                  <a:srgbClr val="64748B"/>
                </a:solidFill>
              </a:rPr>
              <a:t>15 automated test suites (169 green tests)</a:t>
            </a:r>
          </a:p>
          <a:p>
            <a:pPr>
              <a:spcBef>
                <a:spcPts val="300"/>
              </a:spcBef>
            </a:pPr>
            <a:r>
              <a:rPr sz="1600" b="1" dirty="0">
                <a:solidFill>
                  <a:srgbClr val="1E293B"/>
                </a:solidFill>
              </a:rPr>
              <a:t>• Automated Benchmark Suite: </a:t>
            </a:r>
            <a:r>
              <a:rPr sz="1600" dirty="0">
                <a:solidFill>
                  <a:srgbClr val="64748B"/>
                </a:solidFill>
              </a:rPr>
              <a:t>Evaluates P50/P95 latencies over 30 queries</a:t>
            </a:r>
          </a:p>
          <a:p>
            <a:pPr>
              <a:spcBef>
                <a:spcPts val="300"/>
              </a:spcBef>
            </a:pPr>
            <a:r>
              <a:rPr sz="1600" b="1" dirty="0">
                <a:solidFill>
                  <a:srgbClr val="1E293B"/>
                </a:solidFill>
              </a:rPr>
              <a:t>• Routing Score Audit: </a:t>
            </a:r>
            <a:r>
              <a:rPr sz="1600" dirty="0">
                <a:solidFill>
                  <a:srgbClr val="64748B"/>
                </a:solidFill>
              </a:rPr>
              <a:t>20/20 mathematical self-routing verification</a:t>
            </a:r>
          </a:p>
          <a:p>
            <a:pPr>
              <a:spcBef>
                <a:spcPts val="300"/>
              </a:spcBef>
            </a:pPr>
            <a:r>
              <a:rPr sz="1600" b="1" dirty="0">
                <a:solidFill>
                  <a:srgbClr val="1E293B"/>
                </a:solidFill>
              </a:rPr>
              <a:t>• Git &amp; GitHub Releases: </a:t>
            </a:r>
            <a:r>
              <a:rPr sz="1600" dirty="0">
                <a:solidFill>
                  <a:srgbClr val="64748B"/>
                </a:solidFill>
              </a:rPr>
              <a:t>Version control with release tagging</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a:solidFill>
                  <a:srgbClr val="704EA6"/>
                </a:solidFill>
                <a:latin typeface="Calibri" pitchFamily="34" charset="0"/>
                <a:ea typeface="Calibri" pitchFamily="34" charset="-122"/>
                <a:cs typeface="Calibri" pitchFamily="34" charset="-120"/>
              </a:rPr>
              <a:t>Impact &amp; Use case</a:t>
            </a:r>
            <a:endParaRPr lang="en-IN" b="1">
              <a:solidFill>
                <a:srgbClr val="704EA6"/>
              </a:solidFill>
            </a:endParaRPr>
          </a:p>
        </p:txBody>
      </p:sp>
      <p:sp>
        <p:nvSpPr>
          <p:cNvPr id="7" name="Rounded Rectangle 2">
            <a:extLst>
              <a:ext uri="{FF2B5EF4-FFF2-40B4-BE49-F238E27FC236}">
                <a16:creationId xmlns:a16="http://schemas.microsoft.com/office/drawing/2014/main" id="{8CEA3725-F417-6F06-985B-5A3D6DEC4D66}"/>
              </a:ext>
            </a:extLst>
          </p:cNvPr>
          <p:cNvSpPr/>
          <p:nvPr/>
        </p:nvSpPr>
        <p:spPr>
          <a:xfrm>
            <a:off x="746760" y="1492180"/>
            <a:ext cx="3383280" cy="48463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285CE62-6EB7-29A5-196F-EFFFBB4F47D7}"/>
              </a:ext>
            </a:extLst>
          </p:cNvPr>
          <p:cNvSpPr txBox="1"/>
          <p:nvPr/>
        </p:nvSpPr>
        <p:spPr>
          <a:xfrm>
            <a:off x="929640" y="1675060"/>
            <a:ext cx="3017520" cy="4067780"/>
          </a:xfrm>
          <a:prstGeom prst="rect">
            <a:avLst/>
          </a:prstGeom>
          <a:noFill/>
        </p:spPr>
        <p:txBody>
          <a:bodyPr wrap="square">
            <a:spAutoFit/>
          </a:bodyPr>
          <a:lstStyle/>
          <a:p>
            <a:pPr>
              <a:defRPr sz="1400" b="1">
                <a:solidFill>
                  <a:srgbClr val="002C6C"/>
                </a:solidFill>
              </a:defRPr>
            </a:pPr>
            <a:r>
              <a:rPr sz="1400" dirty="0"/>
              <a:t>User Experience</a:t>
            </a:r>
          </a:p>
          <a:p>
            <a:pPr>
              <a:spcAft>
                <a:spcPts val="1000"/>
              </a:spcAft>
              <a:defRPr sz="1000" b="1">
                <a:solidFill>
                  <a:srgbClr val="6B46C1"/>
                </a:solidFill>
              </a:defRPr>
            </a:pPr>
            <a:r>
              <a:rPr sz="1400" dirty="0"/>
              <a:t>Zero Friction &amp; 1-Tap Resolution</a:t>
            </a:r>
          </a:p>
          <a:p>
            <a:pPr>
              <a:spcBef>
                <a:spcPts val="800"/>
              </a:spcBef>
            </a:pPr>
            <a:r>
              <a:rPr sz="1400" b="1" dirty="0">
                <a:solidFill>
                  <a:srgbClr val="1E293B"/>
                </a:solidFill>
              </a:rPr>
              <a:t>• Eliminates Manual Searching:
</a:t>
            </a:r>
            <a:r>
              <a:rPr sz="1400" dirty="0">
                <a:solidFill>
                  <a:srgbClr val="64748B"/>
                </a:solidFill>
              </a:rPr>
              <a:t>Users no longer need to read long 2,000-word support articles or navigate through complex nested menus.</a:t>
            </a:r>
          </a:p>
          <a:p>
            <a:pPr>
              <a:spcBef>
                <a:spcPts val="800"/>
              </a:spcBef>
            </a:pPr>
            <a:r>
              <a:rPr sz="1400" b="1" dirty="0">
                <a:solidFill>
                  <a:srgbClr val="1E293B"/>
                </a:solidFill>
              </a:rPr>
              <a:t>• One-Tap Settings Launch:
</a:t>
            </a:r>
            <a:r>
              <a:rPr sz="1400" dirty="0" err="1">
                <a:solidFill>
                  <a:srgbClr val="64748B"/>
                </a:solidFill>
              </a:rPr>
              <a:t>FixRoute</a:t>
            </a:r>
            <a:r>
              <a:rPr sz="1400" dirty="0">
                <a:solidFill>
                  <a:srgbClr val="64748B"/>
                </a:solidFill>
              </a:rPr>
              <a:t> directly launches the exact One UI screen (e.g. Navigation Bar) via deep link intents.</a:t>
            </a:r>
          </a:p>
          <a:p>
            <a:pPr>
              <a:spcBef>
                <a:spcPts val="800"/>
              </a:spcBef>
            </a:pPr>
            <a:r>
              <a:rPr sz="1400" b="1" dirty="0">
                <a:solidFill>
                  <a:srgbClr val="1E293B"/>
                </a:solidFill>
              </a:rPr>
              <a:t>• Instant Clarity:
</a:t>
            </a:r>
            <a:r>
              <a:rPr sz="1400" dirty="0">
                <a:solidFill>
                  <a:srgbClr val="64748B"/>
                </a:solidFill>
              </a:rPr>
              <a:t>Atomic, source-grounded steps without confusing jargon or unnecessary technical filler.</a:t>
            </a:r>
          </a:p>
        </p:txBody>
      </p:sp>
      <p:sp>
        <p:nvSpPr>
          <p:cNvPr id="11" name="Rounded Rectangle 4">
            <a:extLst>
              <a:ext uri="{FF2B5EF4-FFF2-40B4-BE49-F238E27FC236}">
                <a16:creationId xmlns:a16="http://schemas.microsoft.com/office/drawing/2014/main" id="{758494E4-0E27-3EEA-BA2B-6A5E1AB2A109}"/>
              </a:ext>
            </a:extLst>
          </p:cNvPr>
          <p:cNvSpPr/>
          <p:nvPr/>
        </p:nvSpPr>
        <p:spPr>
          <a:xfrm>
            <a:off x="4404360" y="1492180"/>
            <a:ext cx="3383280" cy="48463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8DAE662-D61B-FBFC-7A48-5E4BC10A2D1C}"/>
              </a:ext>
            </a:extLst>
          </p:cNvPr>
          <p:cNvSpPr txBox="1"/>
          <p:nvPr/>
        </p:nvSpPr>
        <p:spPr>
          <a:xfrm>
            <a:off x="4587240" y="1675060"/>
            <a:ext cx="3017520" cy="4529445"/>
          </a:xfrm>
          <a:prstGeom prst="rect">
            <a:avLst/>
          </a:prstGeom>
          <a:noFill/>
        </p:spPr>
        <p:txBody>
          <a:bodyPr wrap="square">
            <a:spAutoFit/>
          </a:bodyPr>
          <a:lstStyle/>
          <a:p>
            <a:pPr>
              <a:defRPr sz="1400" b="1">
                <a:solidFill>
                  <a:srgbClr val="002C6C"/>
                </a:solidFill>
              </a:defRPr>
            </a:pPr>
            <a:r>
              <a:rPr sz="1600" dirty="0"/>
              <a:t>Samsung Support Ecosystem</a:t>
            </a:r>
          </a:p>
          <a:p>
            <a:pPr>
              <a:spcAft>
                <a:spcPts val="1000"/>
              </a:spcAft>
              <a:defRPr sz="1000" b="1">
                <a:solidFill>
                  <a:srgbClr val="6B46C1"/>
                </a:solidFill>
              </a:defRPr>
            </a:pPr>
            <a:r>
              <a:rPr sz="1600" dirty="0"/>
              <a:t>Massive CS Ticket Deflection</a:t>
            </a:r>
          </a:p>
          <a:p>
            <a:pPr>
              <a:spcBef>
                <a:spcPts val="800"/>
              </a:spcBef>
            </a:pPr>
            <a:r>
              <a:rPr sz="1600" b="1" dirty="0">
                <a:solidFill>
                  <a:srgbClr val="1E293B"/>
                </a:solidFill>
              </a:rPr>
              <a:t>• Tier-1 Ticket Reduction:
</a:t>
            </a:r>
            <a:r>
              <a:rPr sz="1600" dirty="0">
                <a:solidFill>
                  <a:srgbClr val="64748B"/>
                </a:solidFill>
              </a:rPr>
              <a:t>Deflects routine friction calls (black screens, gesture conflicts, Smart View, flickering) from call centers.</a:t>
            </a:r>
          </a:p>
          <a:p>
            <a:pPr>
              <a:spcBef>
                <a:spcPts val="800"/>
              </a:spcBef>
            </a:pPr>
            <a:r>
              <a:rPr sz="1600" b="1" dirty="0">
                <a:solidFill>
                  <a:srgbClr val="1E293B"/>
                </a:solidFill>
              </a:rPr>
              <a:t>• Millions in Cost Savings:
</a:t>
            </a:r>
            <a:r>
              <a:rPr sz="1600" dirty="0">
                <a:solidFill>
                  <a:srgbClr val="64748B"/>
                </a:solidFill>
              </a:rPr>
              <a:t>Automates initial support triage, significantly lowering human customer care operational costs.</a:t>
            </a:r>
          </a:p>
          <a:p>
            <a:pPr>
              <a:spcBef>
                <a:spcPts val="800"/>
              </a:spcBef>
            </a:pPr>
            <a:r>
              <a:rPr sz="1600" b="1" dirty="0">
                <a:solidFill>
                  <a:srgbClr val="1E293B"/>
                </a:solidFill>
              </a:rPr>
              <a:t>• Rapid Time-to-Resolution:
</a:t>
            </a:r>
            <a:r>
              <a:rPr sz="1600" dirty="0">
                <a:solidFill>
                  <a:srgbClr val="64748B"/>
                </a:solidFill>
              </a:rPr>
              <a:t>Reduces average troubleshooting time from 10-15 minutes down to under 5 seconds.</a:t>
            </a:r>
          </a:p>
        </p:txBody>
      </p:sp>
      <p:sp>
        <p:nvSpPr>
          <p:cNvPr id="15" name="Rounded Rectangle 6">
            <a:extLst>
              <a:ext uri="{FF2B5EF4-FFF2-40B4-BE49-F238E27FC236}">
                <a16:creationId xmlns:a16="http://schemas.microsoft.com/office/drawing/2014/main" id="{697AC46A-2824-8C7E-E420-4964BE0EE6C7}"/>
              </a:ext>
            </a:extLst>
          </p:cNvPr>
          <p:cNvSpPr/>
          <p:nvPr/>
        </p:nvSpPr>
        <p:spPr>
          <a:xfrm>
            <a:off x="8061960" y="1492180"/>
            <a:ext cx="3383280" cy="48463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FA8A8CC2-5768-B87E-D72F-3BC0472B6E85}"/>
              </a:ext>
            </a:extLst>
          </p:cNvPr>
          <p:cNvSpPr txBox="1"/>
          <p:nvPr/>
        </p:nvSpPr>
        <p:spPr>
          <a:xfrm>
            <a:off x="8244840" y="1675060"/>
            <a:ext cx="3017520" cy="3852337"/>
          </a:xfrm>
          <a:prstGeom prst="rect">
            <a:avLst/>
          </a:prstGeom>
          <a:noFill/>
        </p:spPr>
        <p:txBody>
          <a:bodyPr wrap="square">
            <a:spAutoFit/>
          </a:bodyPr>
          <a:lstStyle/>
          <a:p>
            <a:pPr>
              <a:defRPr sz="1400" b="1">
                <a:solidFill>
                  <a:srgbClr val="002C6C"/>
                </a:solidFill>
              </a:defRPr>
            </a:pPr>
            <a:r>
              <a:rPr sz="1400" dirty="0"/>
              <a:t>Enterprise Quality</a:t>
            </a:r>
          </a:p>
          <a:p>
            <a:pPr>
              <a:spcAft>
                <a:spcPts val="1000"/>
              </a:spcAft>
              <a:defRPr sz="1000" b="1">
                <a:solidFill>
                  <a:srgbClr val="6B46C1"/>
                </a:solidFill>
              </a:defRPr>
            </a:pPr>
            <a:r>
              <a:rPr sz="1400" dirty="0"/>
              <a:t>100% Grounded Safety Guardrails</a:t>
            </a:r>
          </a:p>
          <a:p>
            <a:pPr>
              <a:spcBef>
                <a:spcPts val="800"/>
              </a:spcBef>
            </a:pPr>
            <a:r>
              <a:rPr sz="1400" b="1" dirty="0">
                <a:solidFill>
                  <a:srgbClr val="1E293B"/>
                </a:solidFill>
              </a:rPr>
              <a:t>• Zero Hallucinations:
</a:t>
            </a:r>
            <a:r>
              <a:rPr sz="1400" dirty="0">
                <a:solidFill>
                  <a:srgbClr val="64748B"/>
                </a:solidFill>
              </a:rPr>
              <a:t>Enforces strict substring quote validation—</a:t>
            </a:r>
            <a:r>
              <a:rPr sz="1400" dirty="0" err="1">
                <a:solidFill>
                  <a:srgbClr val="64748B"/>
                </a:solidFill>
              </a:rPr>
              <a:t>FixRoute</a:t>
            </a:r>
            <a:r>
              <a:rPr sz="1400" dirty="0">
                <a:solidFill>
                  <a:srgbClr val="64748B"/>
                </a:solidFill>
              </a:rPr>
              <a:t> never invents non-existent Android settings.</a:t>
            </a:r>
          </a:p>
          <a:p>
            <a:pPr>
              <a:spcBef>
                <a:spcPts val="800"/>
              </a:spcBef>
            </a:pPr>
            <a:r>
              <a:rPr sz="1400" b="1" dirty="0">
                <a:solidFill>
                  <a:srgbClr val="1E293B"/>
                </a:solidFill>
              </a:rPr>
              <a:t>• Gated Link Protection:
</a:t>
            </a:r>
            <a:r>
              <a:rPr sz="1400" dirty="0">
                <a:solidFill>
                  <a:srgbClr val="64748B"/>
                </a:solidFill>
              </a:rPr>
              <a:t>Confidence &amp; margin gates prevent misdirecting users to wrong device settings menus.</a:t>
            </a:r>
          </a:p>
          <a:p>
            <a:pPr>
              <a:spcBef>
                <a:spcPts val="800"/>
              </a:spcBef>
            </a:pPr>
            <a:r>
              <a:rPr sz="1400" b="1" dirty="0">
                <a:solidFill>
                  <a:srgbClr val="1E293B"/>
                </a:solidFill>
              </a:rPr>
              <a:t>• On-Device Feasibility:
</a:t>
            </a:r>
            <a:r>
              <a:rPr sz="1400" dirty="0">
                <a:solidFill>
                  <a:srgbClr val="64748B"/>
                </a:solidFill>
              </a:rPr>
              <a:t>Sub-3ms semantic cache responses and $0 runtime cost make it ideal for on-device One UI deployment.</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a:solidFill>
                  <a:srgbClr val="704EA6"/>
                </a:solidFill>
                <a:latin typeface="Calibri" pitchFamily="34" charset="0"/>
                <a:ea typeface="Calibri" pitchFamily="34" charset="-122"/>
                <a:cs typeface="Calibri" pitchFamily="34" charset="-120"/>
              </a:rPr>
              <a:t>Innovation highlights, results and limitations</a:t>
            </a:r>
            <a:endParaRPr lang="en-US" sz="4400" b="1">
              <a:solidFill>
                <a:srgbClr val="704EA6"/>
              </a:solidFill>
            </a:endParaRPr>
          </a:p>
        </p:txBody>
      </p:sp>
      <p:sp>
        <p:nvSpPr>
          <p:cNvPr id="9" name="TextBox 8">
            <a:extLst>
              <a:ext uri="{FF2B5EF4-FFF2-40B4-BE49-F238E27FC236}">
                <a16:creationId xmlns:a16="http://schemas.microsoft.com/office/drawing/2014/main" id="{AD9FA4AA-BE76-90C6-4511-FCA9ACE2CBEF}"/>
              </a:ext>
            </a:extLst>
          </p:cNvPr>
          <p:cNvSpPr txBox="1"/>
          <p:nvPr/>
        </p:nvSpPr>
        <p:spPr>
          <a:xfrm>
            <a:off x="914400" y="4663440"/>
            <a:ext cx="10332720" cy="1715854"/>
          </a:xfrm>
          <a:prstGeom prst="rect">
            <a:avLst/>
          </a:prstGeom>
          <a:noFill/>
        </p:spPr>
        <p:txBody>
          <a:bodyPr wrap="square">
            <a:spAutoFit/>
          </a:bodyPr>
          <a:lstStyle/>
          <a:p>
            <a:pPr>
              <a:defRPr sz="1200" b="1">
                <a:solidFill>
                  <a:srgbClr val="002C6C"/>
                </a:solidFill>
              </a:defRPr>
            </a:pPr>
            <a:r>
              <a:rPr sz="1400" dirty="0"/>
              <a:t>Engineering Transparency &amp; System Limitations</a:t>
            </a:r>
          </a:p>
          <a:p>
            <a:pPr>
              <a:spcBef>
                <a:spcPts val="300"/>
              </a:spcBef>
            </a:pPr>
            <a:r>
              <a:rPr sz="1400" b="1" dirty="0">
                <a:solidFill>
                  <a:srgbClr val="1E293B"/>
                </a:solidFill>
              </a:rPr>
              <a:t>• Cold Path Cloud Latency: </a:t>
            </a:r>
            <a:r>
              <a:rPr sz="1400" dirty="0">
                <a:solidFill>
                  <a:srgbClr val="64748B"/>
                </a:solidFill>
              </a:rPr>
              <a:t>Cold LLM extraction round-trip over cloud API takes 6-12 seconds on free-tier rate limits (which is why our pre-warmed semantic cache is critical for instant sub-3ms responses).</a:t>
            </a:r>
          </a:p>
          <a:p>
            <a:pPr>
              <a:spcBef>
                <a:spcPts val="300"/>
              </a:spcBef>
            </a:pPr>
            <a:r>
              <a:rPr sz="1400" b="1" dirty="0">
                <a:solidFill>
                  <a:srgbClr val="1E293B"/>
                </a:solidFill>
              </a:rPr>
              <a:t>• Single-Intent Plan Scope: </a:t>
            </a:r>
            <a:r>
              <a:rPr sz="1400" dirty="0">
                <a:solidFill>
                  <a:srgbClr val="64748B"/>
                </a:solidFill>
              </a:rPr>
              <a:t>Single-intent plans currently generate 1 primary action; ambiguous queries safely fall back to manual guidance rather than guessing multi-intent branches.</a:t>
            </a:r>
          </a:p>
          <a:p>
            <a:pPr>
              <a:spcBef>
                <a:spcPts val="300"/>
              </a:spcBef>
            </a:pPr>
            <a:r>
              <a:rPr sz="1400" b="1" dirty="0">
                <a:solidFill>
                  <a:srgbClr val="1E293B"/>
                </a:solidFill>
              </a:rPr>
              <a:t>• Hardware State Polling: </a:t>
            </a:r>
            <a:r>
              <a:rPr sz="1400" dirty="0">
                <a:solidFill>
                  <a:srgbClr val="64748B"/>
                </a:solidFill>
              </a:rPr>
              <a:t>Deep links trigger One UI destination intents, but hardware verification currently depends on client-side One UI execution.</a:t>
            </a:r>
          </a:p>
        </p:txBody>
      </p:sp>
      <p:pic>
        <p:nvPicPr>
          <p:cNvPr id="11" name="Picture 10">
            <a:extLst>
              <a:ext uri="{FF2B5EF4-FFF2-40B4-BE49-F238E27FC236}">
                <a16:creationId xmlns:a16="http://schemas.microsoft.com/office/drawing/2014/main" id="{1891FFA4-2E0A-46AA-D9FE-B8A5BC6FD84D}"/>
              </a:ext>
            </a:extLst>
          </p:cNvPr>
          <p:cNvPicPr>
            <a:picLocks noChangeAspect="1"/>
          </p:cNvPicPr>
          <p:nvPr/>
        </p:nvPicPr>
        <p:blipFill>
          <a:blip r:embed="rId2"/>
          <a:stretch>
            <a:fillRect/>
          </a:stretch>
        </p:blipFill>
        <p:spPr>
          <a:xfrm>
            <a:off x="724958" y="1618997"/>
            <a:ext cx="10742083" cy="2956816"/>
          </a:xfrm>
          <a:prstGeom prst="rect">
            <a:avLst/>
          </a:prstGeom>
        </p:spPr>
      </p:pic>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5" name="Rounded Rectangle 2">
            <a:extLst>
              <a:ext uri="{FF2B5EF4-FFF2-40B4-BE49-F238E27FC236}">
                <a16:creationId xmlns:a16="http://schemas.microsoft.com/office/drawing/2014/main" id="{9717324D-A7FF-F351-ED8D-58F137663975}"/>
              </a:ext>
            </a:extLst>
          </p:cNvPr>
          <p:cNvSpPr/>
          <p:nvPr/>
        </p:nvSpPr>
        <p:spPr>
          <a:xfrm>
            <a:off x="746760" y="1646555"/>
            <a:ext cx="3383280" cy="48463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30B66AB9-C7FC-00D0-CD31-DC5833379002}"/>
              </a:ext>
            </a:extLst>
          </p:cNvPr>
          <p:cNvSpPr txBox="1"/>
          <p:nvPr/>
        </p:nvSpPr>
        <p:spPr>
          <a:xfrm>
            <a:off x="929640" y="1829435"/>
            <a:ext cx="3017520" cy="3559949"/>
          </a:xfrm>
          <a:prstGeom prst="rect">
            <a:avLst/>
          </a:prstGeom>
          <a:noFill/>
        </p:spPr>
        <p:txBody>
          <a:bodyPr wrap="square">
            <a:spAutoFit/>
          </a:bodyPr>
          <a:lstStyle/>
          <a:p>
            <a:pPr>
              <a:spcAft>
                <a:spcPts val="1000"/>
              </a:spcAft>
              <a:defRPr sz="1300" b="1">
                <a:solidFill>
                  <a:srgbClr val="002C6C"/>
                </a:solidFill>
              </a:defRPr>
            </a:pPr>
            <a:r>
              <a:rPr sz="1600" dirty="0">
                <a:solidFill>
                  <a:srgbClr val="704EA6"/>
                </a:solidFill>
              </a:rPr>
              <a:t>Phase 1: On-Device SLM (Galaxy NPU)</a:t>
            </a:r>
          </a:p>
          <a:p>
            <a:pPr>
              <a:spcBef>
                <a:spcPts val="1000"/>
              </a:spcBef>
            </a:pPr>
            <a:r>
              <a:rPr sz="1600" dirty="0">
                <a:solidFill>
                  <a:srgbClr val="1E293B"/>
                </a:solidFill>
              </a:rPr>
              <a:t>• Transition cloud LLM inference to on-device Small Language Models (e.g., Samsung Gauss or quantized 3B models).</a:t>
            </a:r>
          </a:p>
          <a:p>
            <a:pPr>
              <a:spcBef>
                <a:spcPts val="1000"/>
              </a:spcBef>
            </a:pPr>
            <a:r>
              <a:rPr sz="1600" dirty="0">
                <a:solidFill>
                  <a:srgbClr val="1E293B"/>
                </a:solidFill>
              </a:rPr>
              <a:t>• Runs directly on Galaxy NPU hardware, eliminating all cloud round-trip latency.</a:t>
            </a:r>
          </a:p>
          <a:p>
            <a:pPr>
              <a:spcBef>
                <a:spcPts val="1000"/>
              </a:spcBef>
            </a:pPr>
            <a:r>
              <a:rPr sz="1600" dirty="0">
                <a:solidFill>
                  <a:srgbClr val="1E293B"/>
                </a:solidFill>
              </a:rPr>
              <a:t>• Guarantees 100% offline functionality and zero data leaving the user's device.</a:t>
            </a:r>
          </a:p>
        </p:txBody>
      </p:sp>
      <p:sp>
        <p:nvSpPr>
          <p:cNvPr id="9" name="Rounded Rectangle 4">
            <a:extLst>
              <a:ext uri="{FF2B5EF4-FFF2-40B4-BE49-F238E27FC236}">
                <a16:creationId xmlns:a16="http://schemas.microsoft.com/office/drawing/2014/main" id="{85AD87AB-A42B-DB5C-1870-9B073B57667A}"/>
              </a:ext>
            </a:extLst>
          </p:cNvPr>
          <p:cNvSpPr/>
          <p:nvPr/>
        </p:nvSpPr>
        <p:spPr>
          <a:xfrm>
            <a:off x="4404360" y="1646555"/>
            <a:ext cx="3383280" cy="48463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D8FDC61-2085-8561-2402-83ABCD478BFE}"/>
              </a:ext>
            </a:extLst>
          </p:cNvPr>
          <p:cNvSpPr txBox="1"/>
          <p:nvPr/>
        </p:nvSpPr>
        <p:spPr>
          <a:xfrm>
            <a:off x="4587240" y="1829435"/>
            <a:ext cx="3017520" cy="3313728"/>
          </a:xfrm>
          <a:prstGeom prst="rect">
            <a:avLst/>
          </a:prstGeom>
          <a:noFill/>
        </p:spPr>
        <p:txBody>
          <a:bodyPr wrap="square">
            <a:spAutoFit/>
          </a:bodyPr>
          <a:lstStyle/>
          <a:p>
            <a:pPr>
              <a:spcAft>
                <a:spcPts val="1000"/>
              </a:spcAft>
              <a:defRPr sz="1300" b="1">
                <a:solidFill>
                  <a:srgbClr val="002C6C"/>
                </a:solidFill>
              </a:defRPr>
            </a:pPr>
            <a:r>
              <a:rPr sz="1600" dirty="0">
                <a:solidFill>
                  <a:srgbClr val="704EA6"/>
                </a:solidFill>
              </a:rPr>
              <a:t>Phase 2: One UI State Verification</a:t>
            </a:r>
          </a:p>
          <a:p>
            <a:pPr>
              <a:spcBef>
                <a:spcPts val="1000"/>
              </a:spcBef>
            </a:pPr>
            <a:r>
              <a:rPr sz="1600" dirty="0">
                <a:solidFill>
                  <a:srgbClr val="1E293B"/>
                </a:solidFill>
              </a:rPr>
              <a:t>• Integrate with One UI's </a:t>
            </a:r>
            <a:r>
              <a:rPr sz="1600" dirty="0" err="1">
                <a:solidFill>
                  <a:srgbClr val="1E293B"/>
                </a:solidFill>
              </a:rPr>
              <a:t>validationDeeplink</a:t>
            </a:r>
            <a:r>
              <a:rPr sz="1600" dirty="0">
                <a:solidFill>
                  <a:srgbClr val="1E293B"/>
                </a:solidFill>
              </a:rPr>
              <a:t> to poll system settings state post-execution.</a:t>
            </a:r>
          </a:p>
          <a:p>
            <a:pPr>
              <a:spcBef>
                <a:spcPts val="1000"/>
              </a:spcBef>
            </a:pPr>
            <a:r>
              <a:rPr sz="1600" dirty="0">
                <a:solidFill>
                  <a:srgbClr val="1E293B"/>
                </a:solidFill>
              </a:rPr>
              <a:t>• Verify whether the user successfully applied the setting (e.g., full screen gestures turned off).</a:t>
            </a:r>
          </a:p>
          <a:p>
            <a:pPr>
              <a:spcBef>
                <a:spcPts val="1000"/>
              </a:spcBef>
            </a:pPr>
            <a:r>
              <a:rPr sz="1600" dirty="0">
                <a:solidFill>
                  <a:srgbClr val="1E293B"/>
                </a:solidFill>
              </a:rPr>
              <a:t>• Dynamically adapts the next troubleshooting step if the symptom persists.</a:t>
            </a:r>
          </a:p>
        </p:txBody>
      </p:sp>
      <p:sp>
        <p:nvSpPr>
          <p:cNvPr id="13" name="Rounded Rectangle 6">
            <a:extLst>
              <a:ext uri="{FF2B5EF4-FFF2-40B4-BE49-F238E27FC236}">
                <a16:creationId xmlns:a16="http://schemas.microsoft.com/office/drawing/2014/main" id="{A8B4D651-B566-3438-DF0C-52A8AD7A66EC}"/>
              </a:ext>
            </a:extLst>
          </p:cNvPr>
          <p:cNvSpPr/>
          <p:nvPr/>
        </p:nvSpPr>
        <p:spPr>
          <a:xfrm>
            <a:off x="8061960" y="1646555"/>
            <a:ext cx="3383280" cy="48463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8AC016CB-D03F-46DA-B7E1-34D4C3245622}"/>
              </a:ext>
            </a:extLst>
          </p:cNvPr>
          <p:cNvSpPr txBox="1"/>
          <p:nvPr/>
        </p:nvSpPr>
        <p:spPr>
          <a:xfrm>
            <a:off x="8244840" y="1829435"/>
            <a:ext cx="3017520" cy="3313728"/>
          </a:xfrm>
          <a:prstGeom prst="rect">
            <a:avLst/>
          </a:prstGeom>
          <a:noFill/>
        </p:spPr>
        <p:txBody>
          <a:bodyPr wrap="square">
            <a:spAutoFit/>
          </a:bodyPr>
          <a:lstStyle/>
          <a:p>
            <a:pPr>
              <a:spcAft>
                <a:spcPts val="1000"/>
              </a:spcAft>
              <a:defRPr sz="1300" b="1">
                <a:solidFill>
                  <a:srgbClr val="002C6C"/>
                </a:solidFill>
              </a:defRPr>
            </a:pPr>
            <a:r>
              <a:rPr sz="1600" dirty="0">
                <a:solidFill>
                  <a:srgbClr val="704EA6"/>
                </a:solidFill>
              </a:rPr>
              <a:t>Phase 3: Multi-Intent Composite Plans</a:t>
            </a:r>
          </a:p>
          <a:p>
            <a:pPr>
              <a:spcBef>
                <a:spcPts val="1000"/>
              </a:spcBef>
            </a:pPr>
            <a:r>
              <a:rPr sz="1600" dirty="0">
                <a:solidFill>
                  <a:srgbClr val="1E293B"/>
                </a:solidFill>
              </a:rPr>
              <a:t>• Expand the planning layer to synthesize multi-action sequences for complex issues.</a:t>
            </a:r>
          </a:p>
          <a:p>
            <a:pPr>
              <a:spcBef>
                <a:spcPts val="1000"/>
              </a:spcBef>
            </a:pPr>
            <a:r>
              <a:rPr sz="1600" dirty="0">
                <a:solidFill>
                  <a:srgbClr val="1E293B"/>
                </a:solidFill>
              </a:rPr>
              <a:t>• Example: Step 1: Adjust Full Screen Gestures; Step 2: Calibrate Touch Sensitivity.</a:t>
            </a:r>
          </a:p>
          <a:p>
            <a:pPr>
              <a:spcBef>
                <a:spcPts val="1000"/>
              </a:spcBef>
            </a:pPr>
            <a:r>
              <a:rPr sz="1600" dirty="0">
                <a:solidFill>
                  <a:srgbClr val="1E293B"/>
                </a:solidFill>
              </a:rPr>
              <a:t>• Hierarchical action ranking based on least-disruptive first principles.</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a:solidFill>
                  <a:srgbClr val="704EA6"/>
                </a:solidFill>
                <a:latin typeface="Calibri" pitchFamily="34" charset="0"/>
                <a:ea typeface="Calibri" pitchFamily="34" charset="-122"/>
                <a:cs typeface="Calibri" pitchFamily="34" charset="-120"/>
              </a:rPr>
              <a:t>Brownie points slide( differentiation)</a:t>
            </a:r>
            <a:endParaRPr lang="en-US" sz="4400" b="1">
              <a:solidFill>
                <a:srgbClr val="704EA6"/>
              </a:solidFill>
            </a:endParaRPr>
          </a:p>
        </p:txBody>
      </p:sp>
      <p:sp>
        <p:nvSpPr>
          <p:cNvPr id="5" name="Rounded Rectangle 2">
            <a:extLst>
              <a:ext uri="{FF2B5EF4-FFF2-40B4-BE49-F238E27FC236}">
                <a16:creationId xmlns:a16="http://schemas.microsoft.com/office/drawing/2014/main" id="{73FD422A-C50F-901A-3106-FA3212F0D6CA}"/>
              </a:ext>
            </a:extLst>
          </p:cNvPr>
          <p:cNvSpPr/>
          <p:nvPr/>
        </p:nvSpPr>
        <p:spPr>
          <a:xfrm>
            <a:off x="731520" y="1690688"/>
            <a:ext cx="5120640" cy="2377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8148481-557D-41AD-68D7-CCAF227D6BFE}"/>
              </a:ext>
            </a:extLst>
          </p:cNvPr>
          <p:cNvSpPr txBox="1"/>
          <p:nvPr/>
        </p:nvSpPr>
        <p:spPr>
          <a:xfrm>
            <a:off x="914400" y="1827848"/>
            <a:ext cx="4754880" cy="1867178"/>
          </a:xfrm>
          <a:prstGeom prst="rect">
            <a:avLst/>
          </a:prstGeom>
          <a:noFill/>
        </p:spPr>
        <p:txBody>
          <a:bodyPr wrap="square">
            <a:spAutoFit/>
          </a:bodyPr>
          <a:lstStyle/>
          <a:p>
            <a:pPr>
              <a:defRPr sz="1300" b="1">
                <a:solidFill>
                  <a:srgbClr val="002C6C"/>
                </a:solidFill>
              </a:defRPr>
            </a:pPr>
            <a:r>
              <a:rPr sz="1600" dirty="0"/>
              <a:t>Gated Settings Link Safety</a:t>
            </a:r>
          </a:p>
          <a:p>
            <a:pPr>
              <a:spcAft>
                <a:spcPts val="400"/>
              </a:spcAft>
              <a:defRPr sz="1000" b="1">
                <a:solidFill>
                  <a:srgbClr val="6B46C1"/>
                </a:solidFill>
              </a:defRPr>
            </a:pPr>
            <a:r>
              <a:rPr sz="1600" dirty="0"/>
              <a:t>No Erroneous Screen Redirects</a:t>
            </a:r>
          </a:p>
          <a:p>
            <a:pPr>
              <a:defRPr sz="950">
                <a:solidFill>
                  <a:srgbClr val="64748B"/>
                </a:solidFill>
              </a:defRPr>
            </a:pPr>
            <a:r>
              <a:rPr sz="1600" dirty="0"/>
              <a:t>While other implementations force-attach ungrounded Settings links, </a:t>
            </a:r>
            <a:r>
              <a:rPr sz="1600" dirty="0" err="1"/>
              <a:t>FixRoute</a:t>
            </a:r>
            <a:r>
              <a:rPr sz="1600" dirty="0"/>
              <a:t> enforces strict confidence (&gt;=0.50) and margin (&gt;=0.10) gates. Ambiguous complaints safely fall back to manual steps, protecting user trust.</a:t>
            </a:r>
          </a:p>
        </p:txBody>
      </p:sp>
      <p:sp>
        <p:nvSpPr>
          <p:cNvPr id="9" name="Rounded Rectangle 4">
            <a:extLst>
              <a:ext uri="{FF2B5EF4-FFF2-40B4-BE49-F238E27FC236}">
                <a16:creationId xmlns:a16="http://schemas.microsoft.com/office/drawing/2014/main" id="{522D7A71-834F-ADA9-A03B-18AEF38FCFEF}"/>
              </a:ext>
            </a:extLst>
          </p:cNvPr>
          <p:cNvSpPr/>
          <p:nvPr/>
        </p:nvSpPr>
        <p:spPr>
          <a:xfrm>
            <a:off x="6217920" y="1690688"/>
            <a:ext cx="5120640" cy="2377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62E94B5F-7DAF-EAA3-7381-795510AB3546}"/>
              </a:ext>
            </a:extLst>
          </p:cNvPr>
          <p:cNvSpPr txBox="1"/>
          <p:nvPr/>
        </p:nvSpPr>
        <p:spPr>
          <a:xfrm>
            <a:off x="6400800" y="1827848"/>
            <a:ext cx="4754880" cy="1620957"/>
          </a:xfrm>
          <a:prstGeom prst="rect">
            <a:avLst/>
          </a:prstGeom>
          <a:noFill/>
        </p:spPr>
        <p:txBody>
          <a:bodyPr wrap="square">
            <a:spAutoFit/>
          </a:bodyPr>
          <a:lstStyle/>
          <a:p>
            <a:pPr>
              <a:defRPr sz="1300" b="1">
                <a:solidFill>
                  <a:srgbClr val="002C6C"/>
                </a:solidFill>
              </a:defRPr>
            </a:pPr>
            <a:r>
              <a:rPr sz="1600" dirty="0"/>
              <a:t>Pre-Warmed Semantic Cache</a:t>
            </a:r>
          </a:p>
          <a:p>
            <a:pPr>
              <a:spcAft>
                <a:spcPts val="400"/>
              </a:spcAft>
              <a:defRPr sz="1000" b="1">
                <a:solidFill>
                  <a:srgbClr val="6B46C1"/>
                </a:solidFill>
              </a:defRPr>
            </a:pPr>
            <a:r>
              <a:rPr sz="1600" dirty="0"/>
              <a:t>0.95ms Response at $0 Cost</a:t>
            </a:r>
          </a:p>
          <a:p>
            <a:pPr>
              <a:defRPr sz="950">
                <a:solidFill>
                  <a:srgbClr val="64748B"/>
                </a:solidFill>
              </a:defRPr>
            </a:pPr>
            <a:r>
              <a:rPr sz="1600" dirty="0"/>
              <a:t>Pre-warmed with all 20 official Samsung SIIS topics. Responds in under 1 millisecond with zero LLM API dependency on recurring queries, delivering an unmatched 115x speedup over the competition.</a:t>
            </a:r>
          </a:p>
        </p:txBody>
      </p:sp>
      <p:sp>
        <p:nvSpPr>
          <p:cNvPr id="13" name="Rounded Rectangle 6">
            <a:extLst>
              <a:ext uri="{FF2B5EF4-FFF2-40B4-BE49-F238E27FC236}">
                <a16:creationId xmlns:a16="http://schemas.microsoft.com/office/drawing/2014/main" id="{7D4DE5B8-8E6C-5D71-57D4-E6D8FEAD74F4}"/>
              </a:ext>
            </a:extLst>
          </p:cNvPr>
          <p:cNvSpPr/>
          <p:nvPr/>
        </p:nvSpPr>
        <p:spPr>
          <a:xfrm>
            <a:off x="731520" y="4251008"/>
            <a:ext cx="5120640" cy="2377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B2127D98-BBBB-A5C3-CD0D-E11C9A45725C}"/>
              </a:ext>
            </a:extLst>
          </p:cNvPr>
          <p:cNvSpPr txBox="1"/>
          <p:nvPr/>
        </p:nvSpPr>
        <p:spPr>
          <a:xfrm>
            <a:off x="914400" y="4388168"/>
            <a:ext cx="4754880" cy="1620957"/>
          </a:xfrm>
          <a:prstGeom prst="rect">
            <a:avLst/>
          </a:prstGeom>
          <a:noFill/>
        </p:spPr>
        <p:txBody>
          <a:bodyPr wrap="square">
            <a:spAutoFit/>
          </a:bodyPr>
          <a:lstStyle/>
          <a:p>
            <a:pPr>
              <a:defRPr sz="1300" b="1">
                <a:solidFill>
                  <a:srgbClr val="002C6C"/>
                </a:solidFill>
              </a:defRPr>
            </a:pPr>
            <a:r>
              <a:rPr sz="1600" dirty="0"/>
              <a:t>Mathematical 20/20 Routing Audit</a:t>
            </a:r>
          </a:p>
          <a:p>
            <a:pPr>
              <a:spcAft>
                <a:spcPts val="400"/>
              </a:spcAft>
              <a:defRPr sz="1000" b="1">
                <a:solidFill>
                  <a:srgbClr val="6B46C1"/>
                </a:solidFill>
              </a:defRPr>
            </a:pPr>
            <a:r>
              <a:rPr sz="1600" dirty="0"/>
              <a:t>100% Proven Knowledge Coverage</a:t>
            </a:r>
          </a:p>
          <a:p>
            <a:pPr>
              <a:defRPr sz="950">
                <a:solidFill>
                  <a:srgbClr val="64748B"/>
                </a:solidFill>
              </a:defRPr>
            </a:pPr>
            <a:r>
              <a:rPr sz="1600" dirty="0"/>
              <a:t>Audited across all 20 SIIS articles and 578 deep links. Our dual-field TF-IDF retriever achieves a 100% self-routing pass rate with scores &gt; 0.81 and runner-up margins &gt; 0.56.</a:t>
            </a:r>
          </a:p>
        </p:txBody>
      </p:sp>
      <p:sp>
        <p:nvSpPr>
          <p:cNvPr id="17" name="Rounded Rectangle 8">
            <a:extLst>
              <a:ext uri="{FF2B5EF4-FFF2-40B4-BE49-F238E27FC236}">
                <a16:creationId xmlns:a16="http://schemas.microsoft.com/office/drawing/2014/main" id="{DC8E984A-8900-52F0-B1AE-0B7088A71A29}"/>
              </a:ext>
            </a:extLst>
          </p:cNvPr>
          <p:cNvSpPr/>
          <p:nvPr/>
        </p:nvSpPr>
        <p:spPr>
          <a:xfrm>
            <a:off x="6217920" y="4251008"/>
            <a:ext cx="5120640" cy="2377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281DE19A-C322-D27A-F36E-447700446BD3}"/>
              </a:ext>
            </a:extLst>
          </p:cNvPr>
          <p:cNvSpPr txBox="1"/>
          <p:nvPr/>
        </p:nvSpPr>
        <p:spPr>
          <a:xfrm>
            <a:off x="6400800" y="4388168"/>
            <a:ext cx="4754880" cy="1620957"/>
          </a:xfrm>
          <a:prstGeom prst="rect">
            <a:avLst/>
          </a:prstGeom>
          <a:noFill/>
        </p:spPr>
        <p:txBody>
          <a:bodyPr wrap="square">
            <a:spAutoFit/>
          </a:bodyPr>
          <a:lstStyle/>
          <a:p>
            <a:pPr>
              <a:defRPr sz="1300" b="1">
                <a:solidFill>
                  <a:srgbClr val="002C6C"/>
                </a:solidFill>
              </a:defRPr>
            </a:pPr>
            <a:r>
              <a:rPr sz="1600" dirty="0"/>
              <a:t>Enterprise Microservice Quality</a:t>
            </a:r>
          </a:p>
          <a:p>
            <a:pPr>
              <a:spcAft>
                <a:spcPts val="400"/>
              </a:spcAft>
              <a:defRPr sz="1000" b="1">
                <a:solidFill>
                  <a:srgbClr val="6B46C1"/>
                </a:solidFill>
              </a:defRPr>
            </a:pPr>
            <a:r>
              <a:rPr sz="1600" dirty="0"/>
              <a:t>169 Tests &amp; Production </a:t>
            </a:r>
            <a:r>
              <a:rPr sz="1600" dirty="0" err="1"/>
              <a:t>Dockerfile</a:t>
            </a:r>
            <a:endParaRPr sz="1600" dirty="0"/>
          </a:p>
          <a:p>
            <a:pPr>
              <a:defRPr sz="950">
                <a:solidFill>
                  <a:srgbClr val="64748B"/>
                </a:solidFill>
              </a:defRPr>
            </a:pPr>
            <a:r>
              <a:rPr sz="1600" dirty="0"/>
              <a:t>Not a standalone script—a complete enterprise service with 15 test suites, health check monitoring, </a:t>
            </a:r>
            <a:r>
              <a:rPr sz="1600" dirty="0" err="1"/>
              <a:t>Pydantic</a:t>
            </a:r>
            <a:r>
              <a:rPr sz="1600" dirty="0"/>
              <a:t> v2 validation, and one-line Docker containerization ready for production.</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a:solidFill>
                  <a:srgbClr val="704EA6"/>
                </a:solidFill>
                <a:latin typeface="+mn-lt"/>
              </a:rPr>
              <a:t>Checklist- Updated on Public GitHub</a:t>
            </a:r>
          </a:p>
        </p:txBody>
      </p:sp>
      <p:pic>
        <p:nvPicPr>
          <p:cNvPr id="5" name="Content Placeholder 4">
            <a:extLst>
              <a:ext uri="{FF2B5EF4-FFF2-40B4-BE49-F238E27FC236}">
                <a16:creationId xmlns:a16="http://schemas.microsoft.com/office/drawing/2014/main" id="{F35F33E1-1147-19BD-DD78-24479221170F}"/>
              </a:ext>
            </a:extLst>
          </p:cNvPr>
          <p:cNvPicPr>
            <a:picLocks noGrp="1" noChangeAspect="1"/>
          </p:cNvPicPr>
          <p:nvPr>
            <p:ph idx="1"/>
          </p:nvPr>
        </p:nvPicPr>
        <p:blipFill>
          <a:blip r:embed="rId2"/>
          <a:stretch>
            <a:fillRect/>
          </a:stretch>
        </p:blipFill>
        <p:spPr>
          <a:xfrm>
            <a:off x="838200" y="1834913"/>
            <a:ext cx="10515600" cy="4332761"/>
          </a:xfrm>
          <a:prstGeom prst="rect">
            <a:avLst/>
          </a:prstGeom>
        </p:spPr>
      </p:pic>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a:solidFill>
                  <a:srgbClr val="14142B"/>
                </a:solidFill>
                <a:latin typeface="Arial" pitchFamily="34" charset="0"/>
                <a:ea typeface="Arial" pitchFamily="34" charset="-122"/>
                <a:cs typeface="Arial" pitchFamily="34" charset="-120"/>
              </a:rPr>
              <a:t>Thank you</a:t>
            </a:r>
            <a:endParaRPr lang="en-US" sz="460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a:p>
        </p:txBody>
      </p:sp>
      <p:sp>
        <p:nvSpPr>
          <p:cNvPr id="4" name="Rounded Rectangle 2">
            <a:extLst>
              <a:ext uri="{FF2B5EF4-FFF2-40B4-BE49-F238E27FC236}">
                <a16:creationId xmlns:a16="http://schemas.microsoft.com/office/drawing/2014/main" id="{B938D1A4-33D6-A7E9-9CFE-C1F60E4AF726}"/>
              </a:ext>
            </a:extLst>
          </p:cNvPr>
          <p:cNvSpPr/>
          <p:nvPr/>
        </p:nvSpPr>
        <p:spPr>
          <a:xfrm>
            <a:off x="5878286" y="1717263"/>
            <a:ext cx="6107417" cy="3909813"/>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2C6C"/>
                </a:solidFill>
              </a:defRPr>
            </a:pPr>
            <a:r>
              <a:rPr lang="en-IN" dirty="0" err="1"/>
              <a:t>FixRoute</a:t>
            </a:r>
            <a:r>
              <a:rPr lang="en-IN" dirty="0"/>
              <a:t> — Smart Guided Troubleshooting Engine</a:t>
            </a:r>
          </a:p>
          <a:p>
            <a:pPr algn="ctr">
              <a:defRPr sz="1600" b="1">
                <a:solidFill>
                  <a:srgbClr val="002C6C"/>
                </a:solidFill>
              </a:defRPr>
            </a:pPr>
            <a:endParaRPr lang="en-IN" dirty="0"/>
          </a:p>
          <a:p>
            <a:pPr algn="ctr">
              <a:defRPr sz="1600" b="1">
                <a:solidFill>
                  <a:srgbClr val="002C6C"/>
                </a:solidFill>
              </a:defRPr>
            </a:pPr>
            <a:r>
              <a:rPr lang="en-IN" b="1" dirty="0">
                <a:solidFill>
                  <a:srgbClr val="1E293B"/>
                </a:solidFill>
              </a:rPr>
              <a:t>Theme 2: </a:t>
            </a:r>
            <a:r>
              <a:rPr lang="en-IN" dirty="0">
                <a:solidFill>
                  <a:srgbClr val="1E293B"/>
                </a:solidFill>
              </a:rPr>
              <a:t>Smart Guided Troubleshooting Engine </a:t>
            </a:r>
          </a:p>
          <a:p>
            <a:pPr marL="542925" algn="ctr">
              <a:spcBef>
                <a:spcPts val="600"/>
              </a:spcBef>
            </a:pPr>
            <a:r>
              <a:rPr lang="en-IN" dirty="0">
                <a:solidFill>
                  <a:srgbClr val="1E293B"/>
                </a:solidFill>
              </a:rPr>
              <a:t>       Team </a:t>
            </a:r>
            <a:r>
              <a:rPr lang="en-IN" dirty="0" err="1">
                <a:solidFill>
                  <a:srgbClr val="1E293B"/>
                </a:solidFill>
              </a:rPr>
              <a:t>Primauros</a:t>
            </a:r>
            <a:r>
              <a:rPr lang="en-IN" dirty="0">
                <a:solidFill>
                  <a:srgbClr val="1E293B"/>
                </a:solidFill>
              </a:rPr>
              <a:t> — Thapar University</a:t>
            </a:r>
          </a:p>
          <a:p>
            <a:pPr marL="542925" algn="ctr">
              <a:spcBef>
                <a:spcPts val="600"/>
              </a:spcBef>
            </a:pPr>
            <a:endParaRPr lang="en-IN" dirty="0">
              <a:solidFill>
                <a:srgbClr val="1E293B"/>
              </a:solidFill>
            </a:endParaRPr>
          </a:p>
          <a:p>
            <a:pPr algn="ctr">
              <a:spcBef>
                <a:spcPts val="600"/>
              </a:spcBef>
            </a:pPr>
            <a:r>
              <a:rPr lang="en-IN" b="1" dirty="0">
                <a:solidFill>
                  <a:srgbClr val="1E293B"/>
                </a:solidFill>
              </a:rPr>
              <a:t>Team Members : </a:t>
            </a:r>
            <a:r>
              <a:rPr lang="en-IN" dirty="0">
                <a:solidFill>
                  <a:srgbClr val="1E293B"/>
                </a:solidFill>
              </a:rPr>
              <a:t>Ridhi Sood (rsood_be23@thapar.edu) </a:t>
            </a:r>
          </a:p>
          <a:p>
            <a:pPr algn="ctr">
              <a:spcBef>
                <a:spcPts val="600"/>
              </a:spcBef>
            </a:pPr>
            <a:r>
              <a:rPr lang="en-IN" dirty="0">
                <a:solidFill>
                  <a:srgbClr val="1E293B"/>
                </a:solidFill>
              </a:rPr>
              <a:t>                 Siddharth Singhal (</a:t>
            </a:r>
            <a:r>
              <a:rPr lang="en-IN" dirty="0">
                <a:solidFill>
                  <a:srgbClr val="1E293B"/>
                </a:solidFill>
                <a:hlinkClick r:id="rId3"/>
              </a:rPr>
              <a:t>ssinghal2_be23@thapar.edu</a:t>
            </a:r>
            <a:r>
              <a:rPr lang="en-IN" dirty="0">
                <a:solidFill>
                  <a:srgbClr val="1E293B"/>
                </a:solidFill>
              </a:rPr>
              <a:t>)</a:t>
            </a:r>
          </a:p>
          <a:p>
            <a:pPr algn="ctr">
              <a:spcBef>
                <a:spcPts val="600"/>
              </a:spcBef>
            </a:pPr>
            <a:endParaRPr lang="en-IN" dirty="0">
              <a:solidFill>
                <a:srgbClr val="1E293B"/>
              </a:solidFill>
            </a:endParaRPr>
          </a:p>
          <a:p>
            <a:pPr algn="ctr">
              <a:spcBef>
                <a:spcPts val="600"/>
              </a:spcBef>
            </a:pPr>
            <a:r>
              <a:rPr lang="en-IN" b="1" dirty="0">
                <a:solidFill>
                  <a:srgbClr val="1E293B"/>
                </a:solidFill>
              </a:rPr>
              <a:t>GitHub Repository: </a:t>
            </a:r>
            <a:r>
              <a:rPr lang="en-IN" dirty="0">
                <a:solidFill>
                  <a:srgbClr val="1E293B"/>
                </a:solidFill>
                <a:hlinkClick r:id="rId4"/>
              </a:rPr>
              <a:t>https://github.com/Sidd2465/FixRoute</a:t>
            </a:r>
            <a:endParaRPr lang="en-IN" dirty="0">
              <a:solidFill>
                <a:srgbClr val="1E293B"/>
              </a:solidFill>
            </a:endParaRPr>
          </a:p>
          <a:p>
            <a:pPr algn="ctr">
              <a:spcBef>
                <a:spcPts val="600"/>
              </a:spcBef>
            </a:pPr>
            <a:endParaRPr lang="en-IN" dirty="0">
              <a:solidFill>
                <a:srgbClr val="1E293B"/>
              </a:solidFill>
            </a:endParaRPr>
          </a:p>
          <a:p>
            <a:pPr algn="ctr">
              <a:spcBef>
                <a:spcPts val="600"/>
              </a:spcBef>
            </a:pPr>
            <a:r>
              <a:rPr lang="en-IN" b="1" dirty="0">
                <a:solidFill>
                  <a:srgbClr val="1E293B"/>
                </a:solidFill>
              </a:rPr>
              <a:t>Release Tag: </a:t>
            </a:r>
            <a:r>
              <a:rPr lang="en-IN" dirty="0">
                <a:solidFill>
                  <a:srgbClr val="1E293B"/>
                </a:solidFill>
              </a:rPr>
              <a:t>PRISM_GENAI_HACKATHON_Y2026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0</TotalTime>
  <Words>1550</Words>
  <Application>Microsoft Office PowerPoint</Application>
  <PresentationFormat>Widescreen</PresentationFormat>
  <Paragraphs>176</Paragraphs>
  <Slides>12</Slides>
  <Notes>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ridhi sood</cp:lastModifiedBy>
  <cp:revision>13</cp:revision>
  <dcterms:created xsi:type="dcterms:W3CDTF">2026-09-07T12:01:01Z</dcterms:created>
  <dcterms:modified xsi:type="dcterms:W3CDTF">2026-09-26T11:56:03Z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